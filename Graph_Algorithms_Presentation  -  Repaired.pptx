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32"/>
  </p:notesMasterIdLst>
  <p:sldIdLst>
    <p:sldId id="256" r:id="rId5"/>
    <p:sldId id="257" r:id="rId6"/>
    <p:sldId id="258" r:id="rId7"/>
    <p:sldId id="259" r:id="rId8"/>
    <p:sldId id="276" r:id="rId9"/>
    <p:sldId id="277" r:id="rId10"/>
    <p:sldId id="278" r:id="rId11"/>
    <p:sldId id="279" r:id="rId12"/>
    <p:sldId id="280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70" r:id="rId22"/>
    <p:sldId id="281" r:id="rId23"/>
    <p:sldId id="271" r:id="rId24"/>
    <p:sldId id="272" r:id="rId25"/>
    <p:sldId id="268" r:id="rId26"/>
    <p:sldId id="282" r:id="rId27"/>
    <p:sldId id="269" r:id="rId28"/>
    <p:sldId id="273" r:id="rId29"/>
    <p:sldId id="274" r:id="rId30"/>
    <p:sldId id="275" r:id="rId31"/>
  </p:sldIdLst>
  <p:sldSz cx="6858000" cy="5143500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66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setphong Suthaphan" userId="47ba4f27-e307-45e2-b2ba-6dd8953b3011" providerId="ADAL" clId="{664405AF-1D2C-4722-BE3A-42F21D63EFAB}"/>
    <pc:docChg chg="undo custSel addSld modSld sldOrd">
      <pc:chgData name="Phisetphong Suthaphan" userId="47ba4f27-e307-45e2-b2ba-6dd8953b3011" providerId="ADAL" clId="{664405AF-1D2C-4722-BE3A-42F21D63EFAB}" dt="2026-09-30T02:13:09.909" v="29" actId="1076"/>
      <pc:docMkLst>
        <pc:docMk/>
      </pc:docMkLst>
      <pc:sldChg chg="addSp modSp mod">
        <pc:chgData name="Phisetphong Suthaphan" userId="47ba4f27-e307-45e2-b2ba-6dd8953b3011" providerId="ADAL" clId="{664405AF-1D2C-4722-BE3A-42F21D63EFAB}" dt="2026-09-30T02:08:16.613" v="7" actId="14100"/>
        <pc:sldMkLst>
          <pc:docMk/>
          <pc:sldMk cId="0" sldId="270"/>
        </pc:sldMkLst>
        <pc:picChg chg="add mod">
          <ac:chgData name="Phisetphong Suthaphan" userId="47ba4f27-e307-45e2-b2ba-6dd8953b3011" providerId="ADAL" clId="{664405AF-1D2C-4722-BE3A-42F21D63EFAB}" dt="2026-09-30T02:08:16.613" v="7" actId="14100"/>
          <ac:picMkLst>
            <pc:docMk/>
            <pc:sldMk cId="0" sldId="270"/>
            <ac:picMk id="30" creationId="{864F6124-DBD8-C7C1-1003-B458E4F5819B}"/>
          </ac:picMkLst>
        </pc:picChg>
      </pc:sldChg>
      <pc:sldChg chg="ord">
        <pc:chgData name="Phisetphong Suthaphan" userId="47ba4f27-e307-45e2-b2ba-6dd8953b3011" providerId="ADAL" clId="{664405AF-1D2C-4722-BE3A-42F21D63EFAB}" dt="2026-09-30T02:12:43.218" v="23"/>
        <pc:sldMkLst>
          <pc:docMk/>
          <pc:sldMk cId="0" sldId="273"/>
        </pc:sldMkLst>
      </pc:sldChg>
      <pc:sldChg chg="ord">
        <pc:chgData name="Phisetphong Suthaphan" userId="47ba4f27-e307-45e2-b2ba-6dd8953b3011" providerId="ADAL" clId="{664405AF-1D2C-4722-BE3A-42F21D63EFAB}" dt="2026-09-30T02:12:43.218" v="23"/>
        <pc:sldMkLst>
          <pc:docMk/>
          <pc:sldMk cId="0" sldId="274"/>
        </pc:sldMkLst>
      </pc:sldChg>
      <pc:sldChg chg="addSp delSp modSp add mod">
        <pc:chgData name="Phisetphong Suthaphan" userId="47ba4f27-e307-45e2-b2ba-6dd8953b3011" providerId="ADAL" clId="{664405AF-1D2C-4722-BE3A-42F21D63EFAB}" dt="2026-09-30T02:10:10.461" v="21" actId="1076"/>
        <pc:sldMkLst>
          <pc:docMk/>
          <pc:sldMk cId="511919491" sldId="281"/>
        </pc:sldMkLst>
        <pc:spChg chg="mod">
          <ac:chgData name="Phisetphong Suthaphan" userId="47ba4f27-e307-45e2-b2ba-6dd8953b3011" providerId="ADAL" clId="{664405AF-1D2C-4722-BE3A-42F21D63EFAB}" dt="2026-09-30T02:09:57.491" v="15" actId="1076"/>
          <ac:spMkLst>
            <pc:docMk/>
            <pc:sldMk cId="511919491" sldId="281"/>
            <ac:spMk id="5" creationId="{DDA7F180-9BE7-6371-90BD-422E116E15C5}"/>
          </ac:spMkLst>
        </pc:spChg>
        <pc:spChg chg="del">
          <ac:chgData name="Phisetphong Suthaphan" userId="47ba4f27-e307-45e2-b2ba-6dd8953b3011" providerId="ADAL" clId="{664405AF-1D2C-4722-BE3A-42F21D63EFAB}" dt="2026-09-30T02:09:45.234" v="9" actId="478"/>
          <ac:spMkLst>
            <pc:docMk/>
            <pc:sldMk cId="511919491" sldId="281"/>
            <ac:spMk id="6" creationId="{9A11D3FF-2716-2B44-6A0C-52303336697C}"/>
          </ac:spMkLst>
        </pc:spChg>
        <pc:spChg chg="del">
          <ac:chgData name="Phisetphong Suthaphan" userId="47ba4f27-e307-45e2-b2ba-6dd8953b3011" providerId="ADAL" clId="{664405AF-1D2C-4722-BE3A-42F21D63EFAB}" dt="2026-09-30T02:09:50.738" v="11" actId="478"/>
          <ac:spMkLst>
            <pc:docMk/>
            <pc:sldMk cId="511919491" sldId="281"/>
            <ac:spMk id="7" creationId="{2C2DB8DF-3D7A-7636-C9E3-F2164024FF04}"/>
          </ac:spMkLst>
        </pc:spChg>
        <pc:spChg chg="del">
          <ac:chgData name="Phisetphong Suthaphan" userId="47ba4f27-e307-45e2-b2ba-6dd8953b3011" providerId="ADAL" clId="{664405AF-1D2C-4722-BE3A-42F21D63EFAB}" dt="2026-09-30T02:09:50.738" v="11" actId="478"/>
          <ac:spMkLst>
            <pc:docMk/>
            <pc:sldMk cId="511919491" sldId="281"/>
            <ac:spMk id="8" creationId="{BA726441-43B8-C5C3-1F93-787526D88839}"/>
          </ac:spMkLst>
        </pc:spChg>
        <pc:spChg chg="del">
          <ac:chgData name="Phisetphong Suthaphan" userId="47ba4f27-e307-45e2-b2ba-6dd8953b3011" providerId="ADAL" clId="{664405AF-1D2C-4722-BE3A-42F21D63EFAB}" dt="2026-09-30T02:09:45.891" v="10" actId="478"/>
          <ac:spMkLst>
            <pc:docMk/>
            <pc:sldMk cId="511919491" sldId="281"/>
            <ac:spMk id="10" creationId="{19E17656-B1A4-1F51-E57A-F24428F2F971}"/>
          </ac:spMkLst>
        </pc:spChg>
        <pc:spChg chg="del">
          <ac:chgData name="Phisetphong Suthaphan" userId="47ba4f27-e307-45e2-b2ba-6dd8953b3011" providerId="ADAL" clId="{664405AF-1D2C-4722-BE3A-42F21D63EFAB}" dt="2026-09-30T02:09:50.738" v="11" actId="478"/>
          <ac:spMkLst>
            <pc:docMk/>
            <pc:sldMk cId="511919491" sldId="281"/>
            <ac:spMk id="12" creationId="{314BFCB1-9610-EF0E-55AE-08B93DBD8442}"/>
          </ac:spMkLst>
        </pc:spChg>
        <pc:spChg chg="del">
          <ac:chgData name="Phisetphong Suthaphan" userId="47ba4f27-e307-45e2-b2ba-6dd8953b3011" providerId="ADAL" clId="{664405AF-1D2C-4722-BE3A-42F21D63EFAB}" dt="2026-09-30T02:09:50.738" v="11" actId="478"/>
          <ac:spMkLst>
            <pc:docMk/>
            <pc:sldMk cId="511919491" sldId="281"/>
            <ac:spMk id="13" creationId="{5A31A85B-4715-23FD-B0E1-92AB69EA54A8}"/>
          </ac:spMkLst>
        </pc:spChg>
        <pc:spChg chg="del">
          <ac:chgData name="Phisetphong Suthaphan" userId="47ba4f27-e307-45e2-b2ba-6dd8953b3011" providerId="ADAL" clId="{664405AF-1D2C-4722-BE3A-42F21D63EFAB}" dt="2026-09-30T02:10:00.161" v="16" actId="478"/>
          <ac:spMkLst>
            <pc:docMk/>
            <pc:sldMk cId="511919491" sldId="281"/>
            <ac:spMk id="14" creationId="{353694E5-0FD4-EC99-3AA6-F1DBADFECA1D}"/>
          </ac:spMkLst>
        </pc:spChg>
        <pc:spChg chg="del">
          <ac:chgData name="Phisetphong Suthaphan" userId="47ba4f27-e307-45e2-b2ba-6dd8953b3011" providerId="ADAL" clId="{664405AF-1D2C-4722-BE3A-42F21D63EFAB}" dt="2026-09-30T02:10:00.161" v="16" actId="478"/>
          <ac:spMkLst>
            <pc:docMk/>
            <pc:sldMk cId="511919491" sldId="281"/>
            <ac:spMk id="15" creationId="{7D0E4300-F9D9-EA84-F63F-F56E5DC32AF9}"/>
          </ac:spMkLst>
        </pc:spChg>
        <pc:spChg chg="del">
          <ac:chgData name="Phisetphong Suthaphan" userId="47ba4f27-e307-45e2-b2ba-6dd8953b3011" providerId="ADAL" clId="{664405AF-1D2C-4722-BE3A-42F21D63EFAB}" dt="2026-09-30T02:09:50.738" v="11" actId="478"/>
          <ac:spMkLst>
            <pc:docMk/>
            <pc:sldMk cId="511919491" sldId="281"/>
            <ac:spMk id="16" creationId="{DA95735C-39DE-31D2-8835-BD2C5DD4B645}"/>
          </ac:spMkLst>
        </pc:spChg>
        <pc:spChg chg="del">
          <ac:chgData name="Phisetphong Suthaphan" userId="47ba4f27-e307-45e2-b2ba-6dd8953b3011" providerId="ADAL" clId="{664405AF-1D2C-4722-BE3A-42F21D63EFAB}" dt="2026-09-30T02:09:50.738" v="11" actId="478"/>
          <ac:spMkLst>
            <pc:docMk/>
            <pc:sldMk cId="511919491" sldId="281"/>
            <ac:spMk id="18" creationId="{CEB2E3B9-DCA1-4BB3-2F08-A25CA289E0BF}"/>
          </ac:spMkLst>
        </pc:spChg>
        <pc:spChg chg="del">
          <ac:chgData name="Phisetphong Suthaphan" userId="47ba4f27-e307-45e2-b2ba-6dd8953b3011" providerId="ADAL" clId="{664405AF-1D2C-4722-BE3A-42F21D63EFAB}" dt="2026-09-30T02:09:50.738" v="11" actId="478"/>
          <ac:spMkLst>
            <pc:docMk/>
            <pc:sldMk cId="511919491" sldId="281"/>
            <ac:spMk id="20" creationId="{30A2C52B-2C89-E7E8-E8D4-3108B00E3243}"/>
          </ac:spMkLst>
        </pc:spChg>
        <pc:spChg chg="del">
          <ac:chgData name="Phisetphong Suthaphan" userId="47ba4f27-e307-45e2-b2ba-6dd8953b3011" providerId="ADAL" clId="{664405AF-1D2C-4722-BE3A-42F21D63EFAB}" dt="2026-09-30T02:09:50.738" v="11" actId="478"/>
          <ac:spMkLst>
            <pc:docMk/>
            <pc:sldMk cId="511919491" sldId="281"/>
            <ac:spMk id="23" creationId="{6F74FE93-6AA9-7755-2963-FA8E7519CC3A}"/>
          </ac:spMkLst>
        </pc:spChg>
        <pc:spChg chg="del">
          <ac:chgData name="Phisetphong Suthaphan" userId="47ba4f27-e307-45e2-b2ba-6dd8953b3011" providerId="ADAL" clId="{664405AF-1D2C-4722-BE3A-42F21D63EFAB}" dt="2026-09-30T02:09:50.738" v="11" actId="478"/>
          <ac:spMkLst>
            <pc:docMk/>
            <pc:sldMk cId="511919491" sldId="281"/>
            <ac:spMk id="24" creationId="{04183701-6AD6-E664-86E3-ABD1E81A14FA}"/>
          </ac:spMkLst>
        </pc:spChg>
        <pc:spChg chg="del">
          <ac:chgData name="Phisetphong Suthaphan" userId="47ba4f27-e307-45e2-b2ba-6dd8953b3011" providerId="ADAL" clId="{664405AF-1D2C-4722-BE3A-42F21D63EFAB}" dt="2026-09-30T02:09:50.738" v="11" actId="478"/>
          <ac:spMkLst>
            <pc:docMk/>
            <pc:sldMk cId="511919491" sldId="281"/>
            <ac:spMk id="25" creationId="{A4389B83-0D8E-269F-EB36-DA0C7595E301}"/>
          </ac:spMkLst>
        </pc:spChg>
        <pc:picChg chg="add mod">
          <ac:chgData name="Phisetphong Suthaphan" userId="47ba4f27-e307-45e2-b2ba-6dd8953b3011" providerId="ADAL" clId="{664405AF-1D2C-4722-BE3A-42F21D63EFAB}" dt="2026-09-30T02:10:10.461" v="21" actId="1076"/>
          <ac:picMkLst>
            <pc:docMk/>
            <pc:sldMk cId="511919491" sldId="281"/>
            <ac:picMk id="31" creationId="{A1BB9AB9-BBFC-30C8-26D5-2A9CDD288951}"/>
          </ac:picMkLst>
        </pc:picChg>
      </pc:sldChg>
      <pc:sldChg chg="addSp delSp modSp add mod">
        <pc:chgData name="Phisetphong Suthaphan" userId="47ba4f27-e307-45e2-b2ba-6dd8953b3011" providerId="ADAL" clId="{664405AF-1D2C-4722-BE3A-42F21D63EFAB}" dt="2026-09-30T02:13:09.909" v="29" actId="1076"/>
        <pc:sldMkLst>
          <pc:docMk/>
          <pc:sldMk cId="616526043" sldId="282"/>
        </pc:sldMkLst>
        <pc:spChg chg="del">
          <ac:chgData name="Phisetphong Suthaphan" userId="47ba4f27-e307-45e2-b2ba-6dd8953b3011" providerId="ADAL" clId="{664405AF-1D2C-4722-BE3A-42F21D63EFAB}" dt="2026-09-30T02:13:02.813" v="25" actId="478"/>
          <ac:spMkLst>
            <pc:docMk/>
            <pc:sldMk cId="616526043" sldId="282"/>
            <ac:spMk id="5" creationId="{D9EE153A-FB8E-681A-C9E8-8F0F38F3619F}"/>
          </ac:spMkLst>
        </pc:spChg>
        <pc:spChg chg="del">
          <ac:chgData name="Phisetphong Suthaphan" userId="47ba4f27-e307-45e2-b2ba-6dd8953b3011" providerId="ADAL" clId="{664405AF-1D2C-4722-BE3A-42F21D63EFAB}" dt="2026-09-30T02:13:02.813" v="25" actId="478"/>
          <ac:spMkLst>
            <pc:docMk/>
            <pc:sldMk cId="616526043" sldId="282"/>
            <ac:spMk id="8" creationId="{8CD03964-8817-ABCB-6CE4-5D489AACD0B3}"/>
          </ac:spMkLst>
        </pc:spChg>
        <pc:spChg chg="del">
          <ac:chgData name="Phisetphong Suthaphan" userId="47ba4f27-e307-45e2-b2ba-6dd8953b3011" providerId="ADAL" clId="{664405AF-1D2C-4722-BE3A-42F21D63EFAB}" dt="2026-09-30T02:13:02.813" v="25" actId="478"/>
          <ac:spMkLst>
            <pc:docMk/>
            <pc:sldMk cId="616526043" sldId="282"/>
            <ac:spMk id="9" creationId="{6EAC922A-7924-A2EE-935D-0C3D973B7579}"/>
          </ac:spMkLst>
        </pc:spChg>
        <pc:spChg chg="del">
          <ac:chgData name="Phisetphong Suthaphan" userId="47ba4f27-e307-45e2-b2ba-6dd8953b3011" providerId="ADAL" clId="{664405AF-1D2C-4722-BE3A-42F21D63EFAB}" dt="2026-09-30T02:13:02.813" v="25" actId="478"/>
          <ac:spMkLst>
            <pc:docMk/>
            <pc:sldMk cId="616526043" sldId="282"/>
            <ac:spMk id="11" creationId="{CC8AC7A5-8093-ABCA-7BBD-22CCDD0062D7}"/>
          </ac:spMkLst>
        </pc:spChg>
        <pc:spChg chg="del">
          <ac:chgData name="Phisetphong Suthaphan" userId="47ba4f27-e307-45e2-b2ba-6dd8953b3011" providerId="ADAL" clId="{664405AF-1D2C-4722-BE3A-42F21D63EFAB}" dt="2026-09-30T02:13:02.813" v="25" actId="478"/>
          <ac:spMkLst>
            <pc:docMk/>
            <pc:sldMk cId="616526043" sldId="282"/>
            <ac:spMk id="12" creationId="{0E28AD18-F94F-4EEC-DC61-95EA393086B4}"/>
          </ac:spMkLst>
        </pc:spChg>
        <pc:spChg chg="del">
          <ac:chgData name="Phisetphong Suthaphan" userId="47ba4f27-e307-45e2-b2ba-6dd8953b3011" providerId="ADAL" clId="{664405AF-1D2C-4722-BE3A-42F21D63EFAB}" dt="2026-09-30T02:13:02.813" v="25" actId="478"/>
          <ac:spMkLst>
            <pc:docMk/>
            <pc:sldMk cId="616526043" sldId="282"/>
            <ac:spMk id="15" creationId="{7FEB837A-E3DA-F11F-FFE4-52E3C7C06E5F}"/>
          </ac:spMkLst>
        </pc:spChg>
        <pc:spChg chg="del">
          <ac:chgData name="Phisetphong Suthaphan" userId="47ba4f27-e307-45e2-b2ba-6dd8953b3011" providerId="ADAL" clId="{664405AF-1D2C-4722-BE3A-42F21D63EFAB}" dt="2026-09-30T02:13:02.813" v="25" actId="478"/>
          <ac:spMkLst>
            <pc:docMk/>
            <pc:sldMk cId="616526043" sldId="282"/>
            <ac:spMk id="17" creationId="{90AF1D55-D86C-7802-D040-8E6CFA9A7CE4}"/>
          </ac:spMkLst>
        </pc:spChg>
        <pc:spChg chg="del">
          <ac:chgData name="Phisetphong Suthaphan" userId="47ba4f27-e307-45e2-b2ba-6dd8953b3011" providerId="ADAL" clId="{664405AF-1D2C-4722-BE3A-42F21D63EFAB}" dt="2026-09-30T02:13:02.813" v="25" actId="478"/>
          <ac:spMkLst>
            <pc:docMk/>
            <pc:sldMk cId="616526043" sldId="282"/>
            <ac:spMk id="20" creationId="{49BC94A8-76E3-3F25-2DC1-3A93CD42C05C}"/>
          </ac:spMkLst>
        </pc:spChg>
        <pc:spChg chg="del">
          <ac:chgData name="Phisetphong Suthaphan" userId="47ba4f27-e307-45e2-b2ba-6dd8953b3011" providerId="ADAL" clId="{664405AF-1D2C-4722-BE3A-42F21D63EFAB}" dt="2026-09-30T02:13:02.813" v="25" actId="478"/>
          <ac:spMkLst>
            <pc:docMk/>
            <pc:sldMk cId="616526043" sldId="282"/>
            <ac:spMk id="22" creationId="{187CC3EE-F482-AE9B-575D-7F9E1600963D}"/>
          </ac:spMkLst>
        </pc:spChg>
        <pc:spChg chg="del">
          <ac:chgData name="Phisetphong Suthaphan" userId="47ba4f27-e307-45e2-b2ba-6dd8953b3011" providerId="ADAL" clId="{664405AF-1D2C-4722-BE3A-42F21D63EFAB}" dt="2026-09-30T02:13:02.813" v="25" actId="478"/>
          <ac:spMkLst>
            <pc:docMk/>
            <pc:sldMk cId="616526043" sldId="282"/>
            <ac:spMk id="23" creationId="{DA5D02E9-03D8-5DAA-4979-5070A718B443}"/>
          </ac:spMkLst>
        </pc:spChg>
        <pc:picChg chg="add mod">
          <ac:chgData name="Phisetphong Suthaphan" userId="47ba4f27-e307-45e2-b2ba-6dd8953b3011" providerId="ADAL" clId="{664405AF-1D2C-4722-BE3A-42F21D63EFAB}" dt="2026-09-30T02:13:09.909" v="29" actId="1076"/>
          <ac:picMkLst>
            <pc:docMk/>
            <pc:sldMk cId="616526043" sldId="282"/>
            <ac:picMk id="27" creationId="{7F33433A-5D8F-B728-BAC0-08E04F59C8A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725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26F4F-02F8-C045-681B-18E232B45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C3A24-9DDD-E71B-B7E0-0985A6FA9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3FA6F-2CB6-3ADC-6B53-6C4FFB272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1C47A-5133-A47F-0490-6E4CDC514B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96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520BA-A9F1-1298-706C-31E194E40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7EB8C7-C432-E619-2D5D-8080D2016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62C881-C445-2B51-D3BC-2CCE73736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28BAD-0121-FF8A-02A9-05A7590A39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81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1B8D8-ED39-382D-3776-7FCFE7BAA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4CF69-AC40-55F1-FAF2-1565F2F24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15F779-58DD-340C-B0F2-20329BA45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6961E-B2EB-0D9E-CC3D-AF8636352B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861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7974D-0206-85DD-3BFA-B487658DD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8D75F1-B1A6-2F67-FAD0-C795665DB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ED8073-F395-FE21-D04C-29973B497D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785B9-EDCA-63EE-6A88-75673CEFCE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981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3E282-46E0-3E59-45B8-1C091586E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C13FC0-6344-2DD6-0B83-CFC0F4085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FD8FB0-1AF3-DBB7-3D33-C5CEB4DBB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84F5C-3BED-635D-90A3-E9F1EB525E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8169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C0E26-6D00-0300-B84B-77617CB38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2E5988-D58D-8362-B4B3-612DFC831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AF99A9-B8E6-746D-B8DE-4316C587A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41FED-AB82-3FB1-5A7E-0BE895930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439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841772"/>
            <a:ext cx="58293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2701528"/>
            <a:ext cx="51435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75505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9383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282305"/>
            <a:ext cx="5915025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3442099"/>
            <a:ext cx="5915025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8281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369219"/>
            <a:ext cx="291465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369219"/>
            <a:ext cx="291465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37999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273845"/>
            <a:ext cx="5915025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260872"/>
            <a:ext cx="2901255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1878806"/>
            <a:ext cx="2901255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260872"/>
            <a:ext cx="2915543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1878806"/>
            <a:ext cx="2915543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40520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1169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33483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42900"/>
            <a:ext cx="2211884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740570"/>
            <a:ext cx="3471863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543050"/>
            <a:ext cx="2211884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3842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42900"/>
            <a:ext cx="2211884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740570"/>
            <a:ext cx="3471863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543050"/>
            <a:ext cx="2211884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27903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52820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273844"/>
            <a:ext cx="1478756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273844"/>
            <a:ext cx="4350544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13908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09360" y="4886325"/>
            <a:ext cx="6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75">
                <a:solidFill>
                  <a:srgbClr val="90E0E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37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273845"/>
            <a:ext cx="5915025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369219"/>
            <a:ext cx="5915025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4767264"/>
            <a:ext cx="1543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4767264"/>
            <a:ext cx="23145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4767264"/>
            <a:ext cx="1543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30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6858000" cy="411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Shape 1"/>
          <p:cNvSpPr/>
          <p:nvPr/>
        </p:nvSpPr>
        <p:spPr>
          <a:xfrm>
            <a:off x="4663440" y="94298"/>
            <a:ext cx="3429000" cy="3429000"/>
          </a:xfrm>
          <a:prstGeom prst="ellipse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4" name="Shape 2"/>
          <p:cNvSpPr/>
          <p:nvPr/>
        </p:nvSpPr>
        <p:spPr>
          <a:xfrm>
            <a:off x="5143500" y="505778"/>
            <a:ext cx="2468880" cy="2468880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5" name="Text 3"/>
          <p:cNvSpPr/>
          <p:nvPr/>
        </p:nvSpPr>
        <p:spPr>
          <a:xfrm>
            <a:off x="548640" y="1328738"/>
            <a:ext cx="5486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kern="0" spc="4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โครงสร้างข้อมูล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74021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Algorithms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48640" y="2597468"/>
            <a:ext cx="548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อัลกอริทึมกราฟสำหรับวิชาโครงสร้างข้อมูล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49240" y="167163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9" name="Shape 7"/>
          <p:cNvSpPr/>
          <p:nvPr/>
        </p:nvSpPr>
        <p:spPr>
          <a:xfrm>
            <a:off x="6035040" y="105441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10" name="Shape 8"/>
          <p:cNvSpPr/>
          <p:nvPr/>
        </p:nvSpPr>
        <p:spPr>
          <a:xfrm>
            <a:off x="6309360" y="187737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11" name="Shape 9"/>
          <p:cNvSpPr/>
          <p:nvPr/>
        </p:nvSpPr>
        <p:spPr>
          <a:xfrm>
            <a:off x="5623560" y="235743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12" name="Shape 10"/>
          <p:cNvSpPr/>
          <p:nvPr/>
        </p:nvSpPr>
        <p:spPr>
          <a:xfrm>
            <a:off x="6172200" y="256317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13" name="Shape 11"/>
          <p:cNvSpPr/>
          <p:nvPr/>
        </p:nvSpPr>
        <p:spPr>
          <a:xfrm>
            <a:off x="548640" y="3248978"/>
            <a:ext cx="2057400" cy="2057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14" name="Text 12"/>
          <p:cNvSpPr/>
          <p:nvPr/>
        </p:nvSpPr>
        <p:spPr>
          <a:xfrm>
            <a:off x="548640" y="3386138"/>
            <a:ext cx="411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/ DFS / Dijkstra / Prim / Kruskal</a:t>
            </a:r>
            <a:endParaRPr lang="en-US" sz="900" dirty="0"/>
          </a:p>
          <a:p>
            <a:r>
              <a:rPr lang="en-US" sz="7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Representations • Shortest Path • MST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75">
                <a:solidFill>
                  <a:srgbClr val="90E0E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8F2E92-DD66-A082-A64D-780CD74FC054}"/>
              </a:ext>
            </a:extLst>
          </p:cNvPr>
          <p:cNvSpPr txBox="1"/>
          <p:nvPr/>
        </p:nvSpPr>
        <p:spPr>
          <a:xfrm>
            <a:off x="909918" y="4271682"/>
            <a:ext cx="2303836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th-TH" dirty="0"/>
              <a:t>สร้างโดย </a:t>
            </a:r>
            <a:r>
              <a:rPr lang="en-US" dirty="0"/>
              <a:t>Quick</a:t>
            </a:r>
            <a:br>
              <a:rPr lang="th-TH" dirty="0"/>
            </a:br>
            <a:r>
              <a:rPr lang="th-TH" dirty="0"/>
              <a:t>ควบคุมโดย อ.พิเศษพงศ์ สุธาพันธ์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43388"/>
            <a:ext cx="6858000" cy="257175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Text 1"/>
          <p:cNvSpPr/>
          <p:nvPr/>
        </p:nvSpPr>
        <p:spPr>
          <a:xfrm>
            <a:off x="274320" y="4263962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— Graph Algorithms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11480" y="8829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เนื้อหาที่จะเรียน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11480" y="1431608"/>
            <a:ext cx="308610" cy="30861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417892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คืออะไร? + ประเภทกราฟ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822960" y="1596200"/>
            <a:ext cx="2743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คำศัพท์พื้นฐานและประเภทต่างๆ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821044"/>
            <a:ext cx="308610" cy="30861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1807328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Representations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22960" y="1985636"/>
            <a:ext cx="2743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Matrix vs Adjacency List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2210480"/>
            <a:ext cx="308610" cy="30861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2196764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BFS — Breadth-First Search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22960" y="2375072"/>
            <a:ext cx="2743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การท่องไปแบบกว้าง + Queue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11480" y="2599917"/>
            <a:ext cx="308610" cy="30861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2586201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DFS — Depth-First Search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822960" y="2764509"/>
            <a:ext cx="2743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การท่องไปแบบลึก + Stack/Recursion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2989353"/>
            <a:ext cx="308610" cy="30861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2975637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Dijkstra's Algorithm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822960" y="3153945"/>
            <a:ext cx="2743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หาเส้นทางสั้นที่สุด (Shortest Path)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11480" y="3378790"/>
            <a:ext cx="308610" cy="30861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3365074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Prim's &amp; Kruskal's Algorithm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822960" y="3543382"/>
            <a:ext cx="2743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Spanning Tree (MST)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11480" y="3768226"/>
            <a:ext cx="308610" cy="30861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3754510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สรุปรวม + เปรียบเทียบ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822960" y="3932818"/>
            <a:ext cx="2743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ตารางเปรียบเทียบและ Time Complexity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114800" y="1191578"/>
            <a:ext cx="2400300" cy="2743200"/>
          </a:xfrm>
          <a:prstGeom prst="roundRect">
            <a:avLst>
              <a:gd name="adj" fmla="val 4286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 sz="1350"/>
          </a:p>
        </p:txBody>
      </p:sp>
      <p:sp>
        <p:nvSpPr>
          <p:cNvPr id="27" name="Text 25"/>
          <p:cNvSpPr/>
          <p:nvPr/>
        </p:nvSpPr>
        <p:spPr>
          <a:xfrm>
            <a:off x="4320540" y="1534478"/>
            <a:ext cx="2057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ส่วนที่ 1</a:t>
            </a:r>
            <a:endParaRPr lang="en-US" sz="900" dirty="0"/>
          </a:p>
          <a:p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Representations</a:t>
            </a:r>
            <a:endParaRPr lang="en-US" sz="900" dirty="0"/>
          </a:p>
          <a:p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BFS / DFS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ส่วนที่ 2</a:t>
            </a:r>
            <a:endParaRPr lang="en-US" sz="900" dirty="0"/>
          </a:p>
          <a:p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Shortest Path</a:t>
            </a:r>
            <a:endParaRPr lang="en-US" sz="900" dirty="0"/>
          </a:p>
          <a:p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Minimum Spanning Tree</a:t>
            </a:r>
            <a:endParaRPr lang="en-US" sz="9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75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43388"/>
            <a:ext cx="6858000" cy="257175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Text 1"/>
          <p:cNvSpPr/>
          <p:nvPr/>
        </p:nvSpPr>
        <p:spPr>
          <a:xfrm>
            <a:off x="274320" y="4263962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— Graph Algorithms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11480" y="84867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(กราฟ) คืออะไร?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11480" y="1260158"/>
            <a:ext cx="54864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โครงสร้างข้อมูลที่แสดงความสัมพันธ์ระหว่างสิ่งต่างๆ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342900" y="1671638"/>
            <a:ext cx="2948940" cy="1234440"/>
          </a:xfrm>
          <a:prstGeom prst="roundRect">
            <a:avLst>
              <a:gd name="adj" fmla="val 6667"/>
            </a:avLst>
          </a:prstGeom>
          <a:solidFill>
            <a:srgbClr val="F0F9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 sz="1350"/>
          </a:p>
        </p:txBody>
      </p:sp>
      <p:sp>
        <p:nvSpPr>
          <p:cNvPr id="7" name="Shape 5"/>
          <p:cNvSpPr/>
          <p:nvPr/>
        </p:nvSpPr>
        <p:spPr>
          <a:xfrm>
            <a:off x="342900" y="1671638"/>
            <a:ext cx="54864" cy="1234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8" name="Text 6"/>
          <p:cNvSpPr/>
          <p:nvPr/>
        </p:nvSpPr>
        <p:spPr>
          <a:xfrm>
            <a:off x="548640" y="1740218"/>
            <a:ext cx="26060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จุดยอด (Vertex / Node)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083118"/>
            <a:ext cx="2606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แทนสิ่งที่เราสนใจ</a:t>
            </a:r>
            <a:endParaRPr lang="en-US" sz="900" dirty="0"/>
          </a:p>
          <a:p>
            <a:pPr>
              <a:lnSpc>
                <a:spcPts val="1650"/>
              </a:lnSpc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เช่น เมือง, คน, คอมพิวเตอร์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66160" y="1671638"/>
            <a:ext cx="2948940" cy="123444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 sz="1350"/>
          </a:p>
        </p:txBody>
      </p:sp>
      <p:sp>
        <p:nvSpPr>
          <p:cNvPr id="11" name="Shape 9"/>
          <p:cNvSpPr/>
          <p:nvPr/>
        </p:nvSpPr>
        <p:spPr>
          <a:xfrm>
            <a:off x="3566160" y="1671638"/>
            <a:ext cx="54864" cy="1234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12" name="Text 10"/>
          <p:cNvSpPr/>
          <p:nvPr/>
        </p:nvSpPr>
        <p:spPr>
          <a:xfrm>
            <a:off x="3771900" y="1740218"/>
            <a:ext cx="26060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เส้นเชื่อม (Edge)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71900" y="2083118"/>
            <a:ext cx="2606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แทนความสัมพันธ์ระหว่างจุดยอด</a:t>
            </a:r>
            <a:endParaRPr lang="en-US" sz="900" dirty="0"/>
          </a:p>
          <a:p>
            <a:pPr>
              <a:lnSpc>
                <a:spcPts val="1650"/>
              </a:lnSpc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เช่น ถนน, มิตรภาพ, ลิงก์เว็บ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474470" y="3351848"/>
            <a:ext cx="1371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h-TH" sz="1350"/>
          </a:p>
        </p:txBody>
      </p:sp>
      <p:sp>
        <p:nvSpPr>
          <p:cNvPr id="15" name="Shape 13"/>
          <p:cNvSpPr/>
          <p:nvPr/>
        </p:nvSpPr>
        <p:spPr>
          <a:xfrm>
            <a:off x="2846070" y="3351848"/>
            <a:ext cx="1371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h-TH" sz="1350"/>
          </a:p>
        </p:txBody>
      </p:sp>
      <p:sp>
        <p:nvSpPr>
          <p:cNvPr id="16" name="Shape 14"/>
          <p:cNvSpPr/>
          <p:nvPr/>
        </p:nvSpPr>
        <p:spPr>
          <a:xfrm>
            <a:off x="1474470" y="3351848"/>
            <a:ext cx="685800" cy="61722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h-TH" sz="1350"/>
          </a:p>
        </p:txBody>
      </p:sp>
      <p:sp>
        <p:nvSpPr>
          <p:cNvPr id="17" name="Shape 15"/>
          <p:cNvSpPr/>
          <p:nvPr/>
        </p:nvSpPr>
        <p:spPr>
          <a:xfrm>
            <a:off x="2846070" y="3351848"/>
            <a:ext cx="685800" cy="61722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h-TH" sz="1350"/>
          </a:p>
        </p:txBody>
      </p:sp>
      <p:sp>
        <p:nvSpPr>
          <p:cNvPr id="18" name="Shape 16"/>
          <p:cNvSpPr/>
          <p:nvPr/>
        </p:nvSpPr>
        <p:spPr>
          <a:xfrm>
            <a:off x="2160270" y="3969068"/>
            <a:ext cx="1371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h-TH" sz="1350"/>
          </a:p>
        </p:txBody>
      </p:sp>
      <p:sp>
        <p:nvSpPr>
          <p:cNvPr id="19" name="Shape 17"/>
          <p:cNvSpPr/>
          <p:nvPr/>
        </p:nvSpPr>
        <p:spPr>
          <a:xfrm flipH="1">
            <a:off x="3566160" y="3351848"/>
            <a:ext cx="651510" cy="617216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h-TH" sz="1350"/>
          </a:p>
        </p:txBody>
      </p:sp>
      <p:sp>
        <p:nvSpPr>
          <p:cNvPr id="20" name="Text 18"/>
          <p:cNvSpPr/>
          <p:nvPr/>
        </p:nvSpPr>
        <p:spPr>
          <a:xfrm>
            <a:off x="1371600" y="3248978"/>
            <a:ext cx="219456" cy="219456"/>
          </a:xfrm>
          <a:prstGeom prst="ellipse">
            <a:avLst/>
          </a:prstGeom>
          <a:solidFill>
            <a:srgbClr val="0F3460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2743200" y="3248978"/>
            <a:ext cx="219456" cy="219456"/>
          </a:xfrm>
          <a:prstGeom prst="ellipse">
            <a:avLst/>
          </a:prstGeom>
          <a:solidFill>
            <a:srgbClr val="0F3460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114800" y="3248978"/>
            <a:ext cx="219456" cy="219456"/>
          </a:xfrm>
          <a:prstGeom prst="ellipse">
            <a:avLst/>
          </a:prstGeom>
          <a:solidFill>
            <a:srgbClr val="0F3460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2057400" y="3866198"/>
            <a:ext cx="219456" cy="219456"/>
          </a:xfrm>
          <a:prstGeom prst="ellipse">
            <a:avLst/>
          </a:prstGeom>
          <a:solidFill>
            <a:srgbClr val="0F3460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429000" y="3866198"/>
            <a:ext cx="219456" cy="219456"/>
          </a:xfrm>
          <a:prstGeom prst="ellipse">
            <a:avLst/>
          </a:prstGeom>
          <a:solidFill>
            <a:srgbClr val="0F3460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800600" y="3523298"/>
            <a:ext cx="1920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0F3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(V, E) — V = เซตของจุดยอด, E = เซตของเส้นเชื่อม</a:t>
            </a:r>
            <a:endParaRPr lang="en-US" sz="7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75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43388"/>
            <a:ext cx="6858000" cy="257175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Text 1"/>
          <p:cNvSpPr/>
          <p:nvPr/>
        </p:nvSpPr>
        <p:spPr>
          <a:xfrm>
            <a:off x="274320" y="4263962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— Graph Algorithms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11480" y="84867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ประเภทของกราฟ (Graph Types)</a:t>
            </a:r>
            <a:endParaRPr lang="en-US" sz="2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" y="1397318"/>
          <a:ext cx="6172200" cy="212598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ประเภท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คำอธิบาย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ตัวอย่าง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Undirected Graph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เส้นเชื่อมไม่มีทิศทาง (ไป-กลับได้)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ถนนสองทาง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Directed Graph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เส้นเชื่อมมีทิศทาง (ทางเดียว)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ลิงก์เว็บ, ถนนทางเดียว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Weighted Graph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เส้นเชื่อมมีน้ำหนัก (Weight)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แผนที่ระยะทาง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Unweighted Graph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เส้นเชื่อมไม่มีน้ำหนัก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เครือข่ายสังคม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Cyclic Graph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มีวงจร (Cycle)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เส้นทางวนกลับ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DAG (Acyclic)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ไม่มีวงจร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Scheduling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75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C418A2-561A-58EE-00E3-9F72D2C43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4E2F8F-C5B3-5312-E277-E18E6A86E441}"/>
              </a:ext>
            </a:extLst>
          </p:cNvPr>
          <p:cNvSpPr/>
          <p:nvPr/>
        </p:nvSpPr>
        <p:spPr>
          <a:xfrm>
            <a:off x="0" y="4243388"/>
            <a:ext cx="6858000" cy="257175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67FCE1-0089-682E-F508-2E6F888F1448}"/>
              </a:ext>
            </a:extLst>
          </p:cNvPr>
          <p:cNvSpPr/>
          <p:nvPr/>
        </p:nvSpPr>
        <p:spPr>
          <a:xfrm>
            <a:off x="274320" y="4263962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— Graph Algorithms</a:t>
            </a:r>
            <a:endParaRPr lang="en-US" sz="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9DA3C4E-F94F-1B12-2B17-D3539F5BC674}"/>
              </a:ext>
            </a:extLst>
          </p:cNvPr>
          <p:cNvSpPr/>
          <p:nvPr/>
        </p:nvSpPr>
        <p:spPr>
          <a:xfrm>
            <a:off x="411480" y="84867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ประเภทของกราฟ (Graph Types)</a:t>
            </a:r>
            <a:endParaRPr lang="en-US" sz="21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E9DC676-A7F4-B69D-BDCF-02452C1E3A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75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6" name="Picture 5" descr="What is the difference between an undirected and a directed Graph ...">
            <a:extLst>
              <a:ext uri="{FF2B5EF4-FFF2-40B4-BE49-F238E27FC236}">
                <a16:creationId xmlns:a16="http://schemas.microsoft.com/office/drawing/2014/main" id="{520FEB45-AE7B-FDAC-7722-9C33DE47C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413" y="1429927"/>
            <a:ext cx="5180480" cy="228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78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123E07-1628-5F19-0FA7-1418CE40D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9CF2B4A-A80E-D1C7-2DDF-541DE0E59F64}"/>
              </a:ext>
            </a:extLst>
          </p:cNvPr>
          <p:cNvSpPr/>
          <p:nvPr/>
        </p:nvSpPr>
        <p:spPr>
          <a:xfrm>
            <a:off x="0" y="4243388"/>
            <a:ext cx="6858000" cy="257175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6A3C71-00FA-0C14-8154-6B314BE0A5CC}"/>
              </a:ext>
            </a:extLst>
          </p:cNvPr>
          <p:cNvSpPr/>
          <p:nvPr/>
        </p:nvSpPr>
        <p:spPr>
          <a:xfrm>
            <a:off x="274320" y="4263962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— Graph Algorithms</a:t>
            </a:r>
            <a:endParaRPr lang="en-US" sz="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BE6F51-43B1-DFF3-A597-C5C59604C393}"/>
              </a:ext>
            </a:extLst>
          </p:cNvPr>
          <p:cNvSpPr/>
          <p:nvPr/>
        </p:nvSpPr>
        <p:spPr>
          <a:xfrm>
            <a:off x="411480" y="84867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ประเภทของกราฟ (Graph Types)</a:t>
            </a:r>
            <a:endParaRPr lang="en-US" sz="21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4250C54-DCF9-3E3B-E52A-93A805CA7CF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75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5" name="Picture 4" descr="Intro to Graphs - NY Comdori">
            <a:extLst>
              <a:ext uri="{FF2B5EF4-FFF2-40B4-BE49-F238E27FC236}">
                <a16:creationId xmlns:a16="http://schemas.microsoft.com/office/drawing/2014/main" id="{5CA7AB40-7E92-5218-97E5-4C5D1A70F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413" y="1334442"/>
            <a:ext cx="4905375" cy="262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38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C562FC-5907-AA46-41F4-9D357C50D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274F3A4-E441-AA87-0086-D1DCBAC1401E}"/>
              </a:ext>
            </a:extLst>
          </p:cNvPr>
          <p:cNvSpPr/>
          <p:nvPr/>
        </p:nvSpPr>
        <p:spPr>
          <a:xfrm>
            <a:off x="0" y="4243388"/>
            <a:ext cx="6858000" cy="257175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60CA35-FBCD-6ED8-7111-2751B640C2B0}"/>
              </a:ext>
            </a:extLst>
          </p:cNvPr>
          <p:cNvSpPr/>
          <p:nvPr/>
        </p:nvSpPr>
        <p:spPr>
          <a:xfrm>
            <a:off x="274320" y="4263962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— Graph Algorithms</a:t>
            </a:r>
            <a:endParaRPr lang="en-US" sz="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B49D29C-D066-FE5A-47CB-298F3BDD2A21}"/>
              </a:ext>
            </a:extLst>
          </p:cNvPr>
          <p:cNvSpPr/>
          <p:nvPr/>
        </p:nvSpPr>
        <p:spPr>
          <a:xfrm>
            <a:off x="411480" y="84867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ประเภทของกราฟ (Graph Types)</a:t>
            </a:r>
            <a:endParaRPr lang="en-US" sz="21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C891864-823F-5066-8084-0BCFC64CFD4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75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6" name="Picture 5" descr="Introduction to Graph in Programming">
            <a:extLst>
              <a:ext uri="{FF2B5EF4-FFF2-40B4-BE49-F238E27FC236}">
                <a16:creationId xmlns:a16="http://schemas.microsoft.com/office/drawing/2014/main" id="{7365BC24-DA3F-3EB2-B2B8-4C02815FC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413" y="1162628"/>
            <a:ext cx="5180480" cy="282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898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4BAA2-3B90-5B05-EDFD-6CDC16627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E2AA0D-5D0A-EAA1-D7FF-2759BA63255C}"/>
              </a:ext>
            </a:extLst>
          </p:cNvPr>
          <p:cNvSpPr/>
          <p:nvPr/>
        </p:nvSpPr>
        <p:spPr>
          <a:xfrm>
            <a:off x="0" y="4243388"/>
            <a:ext cx="6858000" cy="257175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4E8600E-0BC4-C24C-DF2D-042D1D1B1331}"/>
              </a:ext>
            </a:extLst>
          </p:cNvPr>
          <p:cNvSpPr/>
          <p:nvPr/>
        </p:nvSpPr>
        <p:spPr>
          <a:xfrm>
            <a:off x="274320" y="4263962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— Graph Algorithms</a:t>
            </a:r>
            <a:endParaRPr lang="en-US" sz="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8259E93-3020-54A3-ED48-962AF3A720F7}"/>
              </a:ext>
            </a:extLst>
          </p:cNvPr>
          <p:cNvSpPr/>
          <p:nvPr/>
        </p:nvSpPr>
        <p:spPr>
          <a:xfrm>
            <a:off x="411480" y="84867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ประเภทของกราฟ (Graph Types)</a:t>
            </a:r>
            <a:endParaRPr lang="en-US" sz="21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6223608-7202-4426-4822-80FA04FE7FF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75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5" name="Picture 4" descr="Graphs | Computer Science | CodePath Guides">
            <a:extLst>
              <a:ext uri="{FF2B5EF4-FFF2-40B4-BE49-F238E27FC236}">
                <a16:creationId xmlns:a16="http://schemas.microsoft.com/office/drawing/2014/main" id="{9BE2607B-9C34-5A2A-A81D-7D6D6AE9E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812" y="1280732"/>
            <a:ext cx="3529770" cy="275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397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2900" y="1608348"/>
            <a:ext cx="3000375" cy="2668191"/>
          </a:xfrm>
          <a:prstGeom prst="roundRect">
            <a:avLst>
              <a:gd name="adj" fmla="val 32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13"/>
          </a:p>
        </p:txBody>
      </p:sp>
      <p:sp>
        <p:nvSpPr>
          <p:cNvPr id="3" name="Rounded Rectangle 2"/>
          <p:cNvSpPr/>
          <p:nvPr/>
        </p:nvSpPr>
        <p:spPr>
          <a:xfrm>
            <a:off x="3514725" y="1608348"/>
            <a:ext cx="3000375" cy="2668191"/>
          </a:xfrm>
          <a:prstGeom prst="roundRect">
            <a:avLst>
              <a:gd name="adj" fmla="val 32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13"/>
          </a:p>
        </p:txBody>
      </p:sp>
      <p:sp>
        <p:nvSpPr>
          <p:cNvPr id="4" name="Rounded Rectangle 3"/>
          <p:cNvSpPr/>
          <p:nvPr/>
        </p:nvSpPr>
        <p:spPr>
          <a:xfrm>
            <a:off x="2720513" y="1860165"/>
            <a:ext cx="445954" cy="18216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13"/>
          </a:p>
        </p:txBody>
      </p:sp>
      <p:sp>
        <p:nvSpPr>
          <p:cNvPr id="5" name="Rounded Rectangle 4"/>
          <p:cNvSpPr/>
          <p:nvPr/>
        </p:nvSpPr>
        <p:spPr>
          <a:xfrm>
            <a:off x="519708" y="3638959"/>
            <a:ext cx="2646759" cy="460772"/>
          </a:xfrm>
          <a:prstGeom prst="roundRect">
            <a:avLst>
              <a:gd name="adj" fmla="val 1162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13"/>
          </a:p>
        </p:txBody>
      </p:sp>
      <p:sp>
        <p:nvSpPr>
          <p:cNvPr id="6" name="Rounded Rectangle 5"/>
          <p:cNvSpPr/>
          <p:nvPr/>
        </p:nvSpPr>
        <p:spPr>
          <a:xfrm>
            <a:off x="5882878" y="1860165"/>
            <a:ext cx="455414" cy="18216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13"/>
          </a:p>
        </p:txBody>
      </p:sp>
      <p:sp>
        <p:nvSpPr>
          <p:cNvPr id="7" name="Rounded Rectangle 6"/>
          <p:cNvSpPr/>
          <p:nvPr/>
        </p:nvSpPr>
        <p:spPr>
          <a:xfrm>
            <a:off x="3691533" y="3638959"/>
            <a:ext cx="2646759" cy="460772"/>
          </a:xfrm>
          <a:prstGeom prst="roundRect">
            <a:avLst>
              <a:gd name="adj" fmla="val 11627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13"/>
          </a:p>
        </p:txBody>
      </p:sp>
      <p:sp>
        <p:nvSpPr>
          <p:cNvPr id="8" name="Rectangle 7"/>
          <p:cNvSpPr/>
          <p:nvPr/>
        </p:nvSpPr>
        <p:spPr>
          <a:xfrm>
            <a:off x="519708" y="3638959"/>
            <a:ext cx="21431" cy="4607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13"/>
          </a:p>
        </p:txBody>
      </p:sp>
      <p:sp>
        <p:nvSpPr>
          <p:cNvPr id="9" name="Rectangle 8"/>
          <p:cNvSpPr/>
          <p:nvPr/>
        </p:nvSpPr>
        <p:spPr>
          <a:xfrm>
            <a:off x="3691533" y="3638959"/>
            <a:ext cx="21431" cy="4607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13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708" y="2224496"/>
            <a:ext cx="2646759" cy="7715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533" y="2224496"/>
            <a:ext cx="2646759" cy="7715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3728" y="2315579"/>
            <a:ext cx="1178719" cy="589359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553" y="2315579"/>
            <a:ext cx="1178719" cy="58935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2900" y="900112"/>
            <a:ext cx="6225778" cy="90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91" b="1">
                <a:solidFill>
                  <a:srgbClr val="2563EB"/>
                </a:solidFill>
                <a:latin typeface="Prompt"/>
              </a:rPr>
              <a:t>GRAPH THEORY &amp; DATA STRUCTURES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1" y="1044774"/>
            <a:ext cx="2920671" cy="2315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823"/>
              </a:lnSpc>
            </a:pPr>
            <a:r>
              <a:rPr sz="1519" b="1">
                <a:solidFill>
                  <a:srgbClr val="0F172A"/>
                </a:solidFill>
                <a:latin typeface="Prompt"/>
              </a:rPr>
              <a:t>Dense Graph vs. Sparse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" y="1308311"/>
            <a:ext cx="6225778" cy="116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9">
                <a:solidFill>
                  <a:srgbClr val="64748B"/>
                </a:solidFill>
                <a:latin typeface="Prompt"/>
              </a:rPr>
              <a:t>การเปรียบเทียบความแตกต่าง ลักษณะโครงสร้าง และโครงสร้างข้อมูลที่เหมาะสม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523" y="1892312"/>
            <a:ext cx="349513" cy="97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3" b="1">
                <a:solidFill>
                  <a:srgbClr val="1E40AF"/>
                </a:solidFill>
                <a:latin typeface="Prompt"/>
              </a:rPr>
              <a:t>|E| ≈ |V|²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57888" y="1892312"/>
            <a:ext cx="358973" cy="97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3" b="1">
                <a:solidFill>
                  <a:srgbClr val="065F46"/>
                </a:solidFill>
                <a:latin typeface="Prompt"/>
              </a:rPr>
              <a:t>|E| « |V|²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708" y="1785156"/>
            <a:ext cx="905738" cy="1558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3" b="1">
                <a:solidFill>
                  <a:srgbClr val="1E3A8A"/>
                </a:solidFill>
                <a:latin typeface="Prompt"/>
              </a:rPr>
              <a:t>Dense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708" y="1988753"/>
            <a:ext cx="862608" cy="10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5">
                <a:solidFill>
                  <a:srgbClr val="3B82F6"/>
                </a:solidFill>
                <a:latin typeface="Prompt"/>
              </a:rPr>
              <a:t>กราฟหนาแน่น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708" y="3103178"/>
            <a:ext cx="2835354" cy="116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9" b="1">
                <a:solidFill>
                  <a:srgbClr val="0F172A"/>
                </a:solidFill>
                <a:latin typeface="Prompt"/>
              </a:rPr>
              <a:t>นิยามและลักษณะ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708" y="3274628"/>
            <a:ext cx="2700338" cy="2336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9">
                <a:solidFill>
                  <a:srgbClr val="475569"/>
                </a:solidFill>
                <a:latin typeface="Prompt"/>
              </a:rPr>
              <a:t>จำนวนเส้นเชื่อม (Edge) สูงมากใกล้เคียงกับจำนวนเส้นเชื่อมสูงสุดที่เป็นไปได้ ทุกจุดเชื่อมต่อกันอย่างแออัด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580" y="3713969"/>
            <a:ext cx="2486025" cy="116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9" b="1">
                <a:solidFill>
                  <a:srgbClr val="1E40AF"/>
                </a:solidFill>
                <a:latin typeface="Prompt"/>
              </a:rPr>
              <a:t>โครงสร้างที่เหมาะสม: Adjacency 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580" y="3874703"/>
            <a:ext cx="2486025" cy="116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9">
                <a:solidFill>
                  <a:srgbClr val="334155"/>
                </a:solidFill>
                <a:latin typeface="Prompt"/>
              </a:rPr>
              <a:t>ตรวจสอบเส้นเชื่อมรวดเร็ว O(1) ใช้พื้นที่ตารางได้คุ้มค่า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1533" y="1785156"/>
            <a:ext cx="945118" cy="1558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3" b="1">
                <a:solidFill>
                  <a:srgbClr val="065F46"/>
                </a:solidFill>
                <a:latin typeface="Prompt"/>
              </a:rPr>
              <a:t>Sparse 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1533" y="1988753"/>
            <a:ext cx="900113" cy="10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5">
                <a:solidFill>
                  <a:srgbClr val="0F172A"/>
                </a:solidFill>
                <a:latin typeface="Prompt"/>
              </a:rPr>
              <a:t>กราฟเบาบาง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1533" y="3103178"/>
            <a:ext cx="2835354" cy="116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9" b="1">
                <a:solidFill>
                  <a:srgbClr val="0F172A"/>
                </a:solidFill>
                <a:latin typeface="Prompt"/>
              </a:rPr>
              <a:t>นิยามและลักษณะ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1533" y="3274628"/>
            <a:ext cx="2700338" cy="2336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9">
                <a:solidFill>
                  <a:srgbClr val="475569"/>
                </a:solidFill>
                <a:latin typeface="Prompt"/>
              </a:rPr>
              <a:t>จำนวนเส้นเชื่อม (Edge) น้อยมากเมื่อเทียบกับจุดยอด (Vertex) โครงสร้างโปร่ง เส้นเชื่อมกระจายตัว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09405" y="3713969"/>
            <a:ext cx="2486025" cy="116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9" b="1">
                <a:solidFill>
                  <a:srgbClr val="065F46"/>
                </a:solidFill>
                <a:latin typeface="Prompt"/>
              </a:rPr>
              <a:t>โครงสร้างที่เหมาะสม: Adjacency 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09405" y="3874703"/>
            <a:ext cx="2486025" cy="116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9">
                <a:solidFill>
                  <a:srgbClr val="334155"/>
                </a:solidFill>
                <a:latin typeface="Prompt"/>
              </a:rPr>
              <a:t>ประหยัดพื้นที่จัดเก็บ O(V + E) ไม่เสียพื้นที่เก็บค่า 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43388"/>
            <a:ext cx="6858000" cy="257175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Text 1"/>
          <p:cNvSpPr/>
          <p:nvPr/>
        </p:nvSpPr>
        <p:spPr>
          <a:xfrm>
            <a:off x="274320" y="4263962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— Graph Algorithms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11480" y="84867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Adjacency Matrix (เมทริกซ์ประชิด)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11480" y="1225868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ใช้ตาราง 2 มิติ ขนาด V × V เก็บความสัมพันธ์ระหว่างจุดยอด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" y="1603058"/>
          <a:ext cx="2400300" cy="1303020"/>
        </p:xfrm>
        <a:graphic>
          <a:graphicData uri="http://schemas.openxmlformats.org/drawingml/2006/table">
            <a:tbl>
              <a:tblPr/>
              <a:tblGrid>
                <a:gridCol w="480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91840" y="1338601"/>
            <a:ext cx="1577340" cy="13716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8" name="Text 5"/>
          <p:cNvSpPr/>
          <p:nvPr/>
        </p:nvSpPr>
        <p:spPr>
          <a:xfrm>
            <a:off x="3429000" y="1407181"/>
            <a:ext cx="1371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ข้อดี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3429000" y="1647211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50"/>
              </a:lnSpc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ตรวจสอบเส้นเชื่อม O(1)</a:t>
            </a:r>
            <a:endParaRPr lang="en-US" sz="750" dirty="0"/>
          </a:p>
          <a:p>
            <a:pPr>
              <a:lnSpc>
                <a:spcPts val="1350"/>
              </a:lnSpc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เหมาะกับ Dense Graph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006340" y="1338601"/>
            <a:ext cx="1577340" cy="13716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11" name="Text 8"/>
          <p:cNvSpPr/>
          <p:nvPr/>
        </p:nvSpPr>
        <p:spPr>
          <a:xfrm>
            <a:off x="5143500" y="1407181"/>
            <a:ext cx="1371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ข้อเสีย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5143500" y="1647211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50"/>
              </a:lnSpc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ใช้หน่วยความจำ O(V²)</a:t>
            </a:r>
            <a:endParaRPr lang="en-US" sz="750" dirty="0"/>
          </a:p>
          <a:p>
            <a:pPr>
              <a:lnSpc>
                <a:spcPts val="1350"/>
              </a:lnSpc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ไม่เหมาะกับ Sparse Graph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42900" y="3111818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กราฟ 4 จุดยอด เส้นเชื่อม: 0-1, 0-2, 1-3, 2-3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42900" y="3386138"/>
            <a:ext cx="6172200" cy="61722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h-TH" sz="1350"/>
          </a:p>
        </p:txBody>
      </p:sp>
      <p:sp>
        <p:nvSpPr>
          <p:cNvPr id="15" name="Text 12"/>
          <p:cNvSpPr/>
          <p:nvPr/>
        </p:nvSpPr>
        <p:spPr>
          <a:xfrm>
            <a:off x="548640" y="3454718"/>
            <a:ext cx="5829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หลักการ: </a:t>
            </a: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ถ้ามีเส้นเชื่อมจาก i ไป j → matrix[i][j] = 1 (หรือน้ำหนัก)   |   ถ้าไม่มี → matrix[i][j] = 0</a:t>
            </a:r>
            <a:endParaRPr lang="en-US" sz="82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75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0D037C3-0E74-81C6-2FCC-95415D293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643" y="2783263"/>
            <a:ext cx="1546994" cy="20270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43388"/>
            <a:ext cx="6858000" cy="257175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Text 1"/>
          <p:cNvSpPr/>
          <p:nvPr/>
        </p:nvSpPr>
        <p:spPr>
          <a:xfrm>
            <a:off x="274320" y="4263962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— Graph Algorithms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11480" y="84867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Adjacency List (รายการประชิด) ⭐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11480" y="1225868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Array of Lists เก็บเพื่อนบ้านของแต่ละจุดยอด — นิยมใช้มากที่สุด!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71638"/>
            <a:ext cx="274320" cy="274320"/>
          </a:xfrm>
          <a:prstGeom prst="ellipse">
            <a:avLst/>
          </a:prstGeom>
          <a:solidFill>
            <a:srgbClr val="0F3460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91540" y="1808798"/>
            <a:ext cx="3429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  <p:txBody>
          <a:bodyPr/>
          <a:lstStyle/>
          <a:p>
            <a:endParaRPr lang="th-TH" sz="1350"/>
          </a:p>
        </p:txBody>
      </p:sp>
      <p:sp>
        <p:nvSpPr>
          <p:cNvPr id="8" name="Text 6"/>
          <p:cNvSpPr/>
          <p:nvPr/>
        </p:nvSpPr>
        <p:spPr>
          <a:xfrm>
            <a:off x="1303020" y="1671638"/>
            <a:ext cx="1097280" cy="274320"/>
          </a:xfrm>
          <a:prstGeom prst="roundRect">
            <a:avLst>
              <a:gd name="adj" fmla="val 12500"/>
            </a:avLst>
          </a:prstGeom>
          <a:solidFill>
            <a:srgbClr val="F0F4FF"/>
          </a:solidFill>
          <a:ln w="12700">
            <a:solidFill>
              <a:srgbClr val="00B4D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75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2]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48640" y="2048828"/>
            <a:ext cx="274320" cy="274320"/>
          </a:xfrm>
          <a:prstGeom prst="ellipse">
            <a:avLst/>
          </a:prstGeom>
          <a:solidFill>
            <a:srgbClr val="0F3460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91540" y="2185988"/>
            <a:ext cx="3429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  <p:txBody>
          <a:bodyPr/>
          <a:lstStyle/>
          <a:p>
            <a:endParaRPr lang="th-TH" sz="1350"/>
          </a:p>
        </p:txBody>
      </p:sp>
      <p:sp>
        <p:nvSpPr>
          <p:cNvPr id="11" name="Text 9"/>
          <p:cNvSpPr/>
          <p:nvPr/>
        </p:nvSpPr>
        <p:spPr>
          <a:xfrm>
            <a:off x="1303020" y="2048828"/>
            <a:ext cx="1097280" cy="274320"/>
          </a:xfrm>
          <a:prstGeom prst="roundRect">
            <a:avLst>
              <a:gd name="adj" fmla="val 12500"/>
            </a:avLst>
          </a:prstGeom>
          <a:solidFill>
            <a:srgbClr val="F0F4FF"/>
          </a:solidFill>
          <a:ln w="12700">
            <a:solidFill>
              <a:srgbClr val="00B4D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75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3]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48640" y="2426018"/>
            <a:ext cx="274320" cy="274320"/>
          </a:xfrm>
          <a:prstGeom prst="ellipse">
            <a:avLst/>
          </a:prstGeom>
          <a:solidFill>
            <a:srgbClr val="0F3460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" y="2563178"/>
            <a:ext cx="3429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  <p:txBody>
          <a:bodyPr/>
          <a:lstStyle/>
          <a:p>
            <a:endParaRPr lang="th-TH" sz="1350"/>
          </a:p>
        </p:txBody>
      </p:sp>
      <p:sp>
        <p:nvSpPr>
          <p:cNvPr id="14" name="Text 12"/>
          <p:cNvSpPr/>
          <p:nvPr/>
        </p:nvSpPr>
        <p:spPr>
          <a:xfrm>
            <a:off x="1303020" y="2426018"/>
            <a:ext cx="1097280" cy="274320"/>
          </a:xfrm>
          <a:prstGeom prst="roundRect">
            <a:avLst>
              <a:gd name="adj" fmla="val 12500"/>
            </a:avLst>
          </a:prstGeom>
          <a:solidFill>
            <a:srgbClr val="F0F4FF"/>
          </a:solidFill>
          <a:ln w="12700">
            <a:solidFill>
              <a:srgbClr val="00B4D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75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3]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48640" y="2803208"/>
            <a:ext cx="274320" cy="274320"/>
          </a:xfrm>
          <a:prstGeom prst="ellipse">
            <a:avLst/>
          </a:prstGeom>
          <a:solidFill>
            <a:srgbClr val="0F3460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1540" y="2940368"/>
            <a:ext cx="3429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  <p:txBody>
          <a:bodyPr/>
          <a:lstStyle/>
          <a:p>
            <a:endParaRPr lang="th-TH" sz="1350"/>
          </a:p>
        </p:txBody>
      </p:sp>
      <p:sp>
        <p:nvSpPr>
          <p:cNvPr id="17" name="Text 15"/>
          <p:cNvSpPr/>
          <p:nvPr/>
        </p:nvSpPr>
        <p:spPr>
          <a:xfrm>
            <a:off x="1303020" y="2803208"/>
            <a:ext cx="1097280" cy="274320"/>
          </a:xfrm>
          <a:prstGeom prst="roundRect">
            <a:avLst>
              <a:gd name="adj" fmla="val 12500"/>
            </a:avLst>
          </a:prstGeom>
          <a:solidFill>
            <a:srgbClr val="F0F4FF"/>
          </a:solidFill>
          <a:ln w="12700">
            <a:solidFill>
              <a:srgbClr val="00B4D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75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2]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3291840" y="1671638"/>
            <a:ext cx="1577340" cy="1508760"/>
          </a:xfrm>
          <a:prstGeom prst="roundRect">
            <a:avLst>
              <a:gd name="adj" fmla="val 454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19" name="Text 17"/>
          <p:cNvSpPr/>
          <p:nvPr/>
        </p:nvSpPr>
        <p:spPr>
          <a:xfrm>
            <a:off x="3429000" y="1740218"/>
            <a:ext cx="1371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ข้อดี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3429000" y="201453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50"/>
              </a:lnSpc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หน่วยความจำ O(V+E)</a:t>
            </a:r>
            <a:endParaRPr lang="en-US" sz="750" dirty="0"/>
          </a:p>
          <a:p>
            <a:pPr>
              <a:lnSpc>
                <a:spcPts val="1350"/>
              </a:lnSpc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เหมาะกับ Sparse Graph</a:t>
            </a:r>
            <a:endParaRPr lang="en-US" sz="750" dirty="0"/>
          </a:p>
          <a:p>
            <a:pPr>
              <a:lnSpc>
                <a:spcPts val="1350"/>
              </a:lnSpc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ท่องไปในเพื่อนบ้านเร็ว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06340" y="1671638"/>
            <a:ext cx="1577340" cy="1508760"/>
          </a:xfrm>
          <a:prstGeom prst="roundRect">
            <a:avLst>
              <a:gd name="adj" fmla="val 4545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22" name="Text 20"/>
          <p:cNvSpPr/>
          <p:nvPr/>
        </p:nvSpPr>
        <p:spPr>
          <a:xfrm>
            <a:off x="5143500" y="1740218"/>
            <a:ext cx="1371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ข้อเสีย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143500" y="201453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50"/>
              </a:lnSpc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ตรวจสอบเส้นเชื่อม</a:t>
            </a:r>
            <a:endParaRPr lang="en-US" sz="750" dirty="0"/>
          </a:p>
          <a:p>
            <a:pPr>
              <a:lnSpc>
                <a:spcPts val="1350"/>
              </a:lnSpc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ช้ากว่า O(degree)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42900" y="3386138"/>
            <a:ext cx="6172200" cy="61722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25" name="Text 23"/>
          <p:cNvSpPr/>
          <p:nvPr/>
        </p:nvSpPr>
        <p:spPr>
          <a:xfrm>
            <a:off x="548640" y="3489008"/>
            <a:ext cx="5829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self.adj_list = {i: [] for i in range(num_vertices)}</a:t>
            </a:r>
            <a:endParaRPr lang="en-US" sz="825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75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6858000" cy="411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Text 1"/>
          <p:cNvSpPr/>
          <p:nvPr/>
        </p:nvSpPr>
        <p:spPr>
          <a:xfrm>
            <a:off x="411480" y="848678"/>
            <a:ext cx="54864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BFS — Breadth-First Search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1260158"/>
            <a:ext cx="54864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การท่องไปแบบกว้าง — สำรวจทีละระดับ (Level by Level)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274320" y="1671638"/>
            <a:ext cx="3154680" cy="2263140"/>
          </a:xfrm>
          <a:prstGeom prst="roundRect">
            <a:avLst>
              <a:gd name="adj" fmla="val 303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6" name="Text 4"/>
          <p:cNvSpPr/>
          <p:nvPr/>
        </p:nvSpPr>
        <p:spPr>
          <a:xfrm>
            <a:off x="411480" y="1740218"/>
            <a:ext cx="27432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ขั้นตอน (Algorithm)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0060" y="208311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54380" y="2083118"/>
            <a:ext cx="25374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ใส่จุดเริ่มต้นลงใน Queue + ทำเครื่องหมาย visited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80060" y="242601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754380" y="2426018"/>
            <a:ext cx="25374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ดึงจุดยอดออกจาก Queue (dequeue)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80060" y="276891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754380" y="2768918"/>
            <a:ext cx="25374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สำรวจเพื่อนบ้านทั้งหมด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80060" y="311181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754380" y="3111818"/>
            <a:ext cx="25374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ถ้ายังไม่ visited → ใส่ลง Queue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80060" y="345471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754380" y="3454718"/>
            <a:ext cx="25374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ทำซ้ำจน Queue ว่าง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3634740" y="1671638"/>
            <a:ext cx="2948940" cy="89154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18" name="Text 16"/>
          <p:cNvSpPr/>
          <p:nvPr/>
        </p:nvSpPr>
        <p:spPr>
          <a:xfrm>
            <a:off x="3771900" y="1740218"/>
            <a:ext cx="2606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โครงสร้างข้อมูลที่ใช้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71900" y="19802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00"/>
              </a:lnSpc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(คิว)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FIFO — First In, First Out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Visited Set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เก็บจุดยอดที่เยี่ยมแล้ว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34740" y="2700338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21" name="Text 19"/>
          <p:cNvSpPr/>
          <p:nvPr/>
        </p:nvSpPr>
        <p:spPr>
          <a:xfrm>
            <a:off x="3634740" y="270033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750" dirty="0"/>
          </a:p>
          <a:p>
            <a:pPr algn="ctr"/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+ E)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143500" y="2700338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23" name="Text 21"/>
          <p:cNvSpPr/>
          <p:nvPr/>
        </p:nvSpPr>
        <p:spPr>
          <a:xfrm>
            <a:off x="5143500" y="270033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</a:t>
            </a:r>
            <a:endParaRPr lang="en-US" sz="750" dirty="0"/>
          </a:p>
          <a:p>
            <a:pPr algn="ctr"/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34740" y="3386138"/>
            <a:ext cx="2948940" cy="582930"/>
          </a:xfrm>
          <a:prstGeom prst="roundRect">
            <a:avLst>
              <a:gd name="adj" fmla="val 11765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25" name="Text 23"/>
          <p:cNvSpPr/>
          <p:nvPr/>
        </p:nvSpPr>
        <p:spPr>
          <a:xfrm>
            <a:off x="3771900" y="3420428"/>
            <a:ext cx="2057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การประยุกต์ใช้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771900" y="3591878"/>
            <a:ext cx="26746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เส้นทางสั้นสุด (Unweighted) • Connected Components • Level Order</a:t>
            </a:r>
            <a:endParaRPr lang="en-US" sz="675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75">
                <a:solidFill>
                  <a:srgbClr val="90E0E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43388"/>
            <a:ext cx="6858000" cy="257175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Text 1"/>
          <p:cNvSpPr/>
          <p:nvPr/>
        </p:nvSpPr>
        <p:spPr>
          <a:xfrm>
            <a:off x="274320" y="4263962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— Graph Algorithms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11480" y="848678"/>
            <a:ext cx="548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BFS Trace — การทำงานทีละขั้น</a:t>
            </a:r>
            <a:endParaRPr lang="en-US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5740" y="1294448"/>
          <a:ext cx="6446520" cy="192024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Step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Dequeue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เพื่อนบ้าน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Queue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Visited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เริ่ม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[0]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{0}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1, 2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2]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{0, 1, 2}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3, 4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[2, 3, 4]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{0, 1, 2, 3, 4}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[3, 4, 5]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{0, 1, 2, 3, 4, 5}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(ไม่มีใหม่)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[4, 5]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เหมือนเดิม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(ไม่มีใหม่)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[5]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เหมือนเดิม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(ไม่มีใหม่)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[] ← จบ!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เหมือนเดิม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42900" y="3283268"/>
            <a:ext cx="6172200" cy="445770"/>
          </a:xfrm>
          <a:prstGeom prst="roundRect">
            <a:avLst>
              <a:gd name="adj" fmla="val 12308"/>
            </a:avLst>
          </a:prstGeom>
          <a:solidFill>
            <a:srgbClr val="EFF6FF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h-TH" sz="1350"/>
          </a:p>
        </p:txBody>
      </p:sp>
      <p:sp>
        <p:nvSpPr>
          <p:cNvPr id="7" name="Text 4"/>
          <p:cNvSpPr/>
          <p:nvPr/>
        </p:nvSpPr>
        <p:spPr>
          <a:xfrm>
            <a:off x="548640" y="3331274"/>
            <a:ext cx="5829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ผลลัพธ์ BFS: 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→ 1 → 2 → 3 → 4 → 5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342900" y="3866198"/>
            <a:ext cx="6172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{0:[1,2], 1:[0,3,4], 2:[0,5], 3:[1], 4:[1,5], 5:[2,4]}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75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6858000" cy="411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Text 1"/>
          <p:cNvSpPr/>
          <p:nvPr/>
        </p:nvSpPr>
        <p:spPr>
          <a:xfrm>
            <a:off x="411480" y="848678"/>
            <a:ext cx="54864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DFS — Depth-First Search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1260158"/>
            <a:ext cx="54864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การท่องไปแบบลึก — ลึกลงไปให้สุดทางก่อนย้อนกลับ (Backtrack)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274320" y="1671638"/>
            <a:ext cx="3154680" cy="2263140"/>
          </a:xfrm>
          <a:prstGeom prst="roundRect">
            <a:avLst>
              <a:gd name="adj" fmla="val 303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6" name="Text 4"/>
          <p:cNvSpPr/>
          <p:nvPr/>
        </p:nvSpPr>
        <p:spPr>
          <a:xfrm>
            <a:off x="411480" y="1740218"/>
            <a:ext cx="27432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ขั้นตอน (Algorithm)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0060" y="208311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54380" y="2083118"/>
            <a:ext cx="25374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เริ่มจากจุดเริ่มต้น + ทำเครื่องหมาย visited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80060" y="242601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754380" y="2426018"/>
            <a:ext cx="25374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สำรวจเพื่อนบ้านที่ยังไม่ visited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80060" y="276891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754380" y="2768918"/>
            <a:ext cx="25374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เลือกเพื่อนบ้านตัวแรก → ดำดิ่งลงไป (Recursive)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80060" y="311181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754380" y="3111818"/>
            <a:ext cx="25374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ไม่มีเพื่อนบ้านใหม่ → Backtrack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80060" y="345471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754380" y="3454718"/>
            <a:ext cx="25374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ทำซ้ำจนครบทุกจุดยอด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3634740" y="1671638"/>
            <a:ext cx="2948940" cy="89154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18" name="Text 16"/>
          <p:cNvSpPr/>
          <p:nvPr/>
        </p:nvSpPr>
        <p:spPr>
          <a:xfrm>
            <a:off x="3771900" y="1740218"/>
            <a:ext cx="2606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โครงสร้างข้อมูลที่ใช้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71900" y="19802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00"/>
              </a:lnSpc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(สแตก) / Recursion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LIFO — Last In, First Out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Visited Set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เก็บจุดยอดที่เยี่ยมแล้ว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34740" y="2700338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21" name="Text 19"/>
          <p:cNvSpPr/>
          <p:nvPr/>
        </p:nvSpPr>
        <p:spPr>
          <a:xfrm>
            <a:off x="3634740" y="270033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750" dirty="0"/>
          </a:p>
          <a:p>
            <a:pPr algn="ctr"/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+ E)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143500" y="2700338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23" name="Text 21"/>
          <p:cNvSpPr/>
          <p:nvPr/>
        </p:nvSpPr>
        <p:spPr>
          <a:xfrm>
            <a:off x="5143500" y="270033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</a:t>
            </a:r>
            <a:endParaRPr lang="en-US" sz="750" dirty="0"/>
          </a:p>
          <a:p>
            <a:pPr algn="ctr"/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34740" y="3386138"/>
            <a:ext cx="2948940" cy="582930"/>
          </a:xfrm>
          <a:prstGeom prst="roundRect">
            <a:avLst>
              <a:gd name="adj" fmla="val 11765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25" name="Text 23"/>
          <p:cNvSpPr/>
          <p:nvPr/>
        </p:nvSpPr>
        <p:spPr>
          <a:xfrm>
            <a:off x="3771900" y="3420428"/>
            <a:ext cx="2057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การประยุกต์ใช้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771900" y="3591878"/>
            <a:ext cx="26746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Detection • Topological Sort • Maze Solving • SCC</a:t>
            </a:r>
            <a:endParaRPr lang="en-US" sz="675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75">
                <a:solidFill>
                  <a:srgbClr val="90E0E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43388"/>
            <a:ext cx="6858000" cy="257175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Text 1"/>
          <p:cNvSpPr/>
          <p:nvPr/>
        </p:nvSpPr>
        <p:spPr>
          <a:xfrm>
            <a:off x="274320" y="4263962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— Graph Algorithms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11480" y="848678"/>
            <a:ext cx="548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DFS Trace — การทำงานทีละขั้น (Recursive)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274320" y="1294448"/>
            <a:ext cx="3771900" cy="260604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6" name="Text 4"/>
          <p:cNvSpPr/>
          <p:nvPr/>
        </p:nvSpPr>
        <p:spPr>
          <a:xfrm>
            <a:off x="411480" y="1397318"/>
            <a:ext cx="3497580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dfs(0) → visited: {0}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dfs(1) → visited: {0, 1}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├─ 0 → visited แล้ว ข้าม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├─ dfs(3) → visited: {0,1,3}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│    └─ 1 → visited → backtrack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└─ dfs(4) → visited: {0,1,3,4}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├─ 1 → visited ข้าม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└─ dfs(5) → {0,1,2,3,4,5}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└─ dfs(2) → backtrack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2 → visited แล้ว ข้าม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251960" y="1294448"/>
            <a:ext cx="2331720" cy="89154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h-TH" sz="1350"/>
          </a:p>
        </p:txBody>
      </p:sp>
      <p:sp>
        <p:nvSpPr>
          <p:cNvPr id="8" name="Text 6"/>
          <p:cNvSpPr/>
          <p:nvPr/>
        </p:nvSpPr>
        <p:spPr>
          <a:xfrm>
            <a:off x="4389120" y="1363028"/>
            <a:ext cx="20574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ผลลัพธ์ DFS</a:t>
            </a:r>
            <a:endParaRPr lang="en-US" sz="900" dirty="0"/>
          </a:p>
          <a:p>
            <a:endParaRPr lang="en-US" sz="900" dirty="0"/>
          </a:p>
          <a:p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→ 1 → 3 → 4 → 5 → 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51960" y="2357438"/>
            <a:ext cx="2331720" cy="157734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10" name="Text 8"/>
          <p:cNvSpPr/>
          <p:nvPr/>
        </p:nvSpPr>
        <p:spPr>
          <a:xfrm>
            <a:off x="4389120" y="2426018"/>
            <a:ext cx="2057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DFS มี 2 แบบ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2700338"/>
            <a:ext cx="2057400" cy="51435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12" name="Text 10"/>
          <p:cNvSpPr/>
          <p:nvPr/>
        </p:nvSpPr>
        <p:spPr>
          <a:xfrm>
            <a:off x="4457700" y="2734628"/>
            <a:ext cx="192024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</a:t>
            </a:r>
            <a:endParaRPr lang="en-US" sz="825" dirty="0"/>
          </a:p>
          <a:p>
            <a:r>
              <a:rPr lang="en-US" sz="675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Call Stack ของระบบ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4389120" y="3317558"/>
            <a:ext cx="2057400" cy="514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14" name="Text 12"/>
          <p:cNvSpPr/>
          <p:nvPr/>
        </p:nvSpPr>
        <p:spPr>
          <a:xfrm>
            <a:off x="4457700" y="3351848"/>
            <a:ext cx="192024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(ใช้ Stack)</a:t>
            </a:r>
            <a:endParaRPr lang="en-US" sz="825" dirty="0"/>
          </a:p>
          <a:p>
            <a:r>
              <a:rPr lang="en-US" sz="675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stack.pop() แทน recursion</a:t>
            </a:r>
            <a:endParaRPr lang="en-US" sz="82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75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43388"/>
            <a:ext cx="6858000" cy="257175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Text 1"/>
          <p:cNvSpPr/>
          <p:nvPr/>
        </p:nvSpPr>
        <p:spPr>
          <a:xfrm>
            <a:off x="274320" y="4263962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— Graph Algorithms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11480" y="84867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เปรียบเทียบ BFS vs DFS</a:t>
            </a:r>
            <a:endParaRPr lang="en-US" sz="2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" y="1397318"/>
          <a:ext cx="6172200" cy="212598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คุณสมบัติ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BFS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DFS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โครงสร้างข้อมูล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(FIFO)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/ Recursion (LIFO)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ลำดับการสำรวจ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ทีละระดับ (Level by Level)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ลึกสุดก่อน (Depth First)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เส้นทางสั้นสุด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(Unweighted)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ไม่การันตี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หน่วยความจำ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มากกว่า (เก็บทั้งระดับ)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น้อยกว่า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ตรวจจับวงจร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ได้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ได้ (นิยมกว่า)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Time Complexity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 + 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 + 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42900" y="3523298"/>
            <a:ext cx="6172200" cy="445770"/>
          </a:xfrm>
          <a:prstGeom prst="roundRect">
            <a:avLst>
              <a:gd name="adj" fmla="val 12308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h-TH" sz="1350"/>
          </a:p>
        </p:txBody>
      </p:sp>
      <p:sp>
        <p:nvSpPr>
          <p:cNvPr id="7" name="Text 4"/>
          <p:cNvSpPr/>
          <p:nvPr/>
        </p:nvSpPr>
        <p:spPr>
          <a:xfrm>
            <a:off x="548640" y="3578162"/>
            <a:ext cx="5829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สรุป: </a:t>
            </a: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หาเส้นทางสั้นสุดได้ (Unweighted) แต่ใช้หน่วยความจำมากกว่า  |  DFS ใช้หน่วยความจำน้อยแต่ดีกับ Cycle Detection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75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6858000" cy="411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Shape 1"/>
          <p:cNvSpPr/>
          <p:nvPr/>
        </p:nvSpPr>
        <p:spPr>
          <a:xfrm>
            <a:off x="-1028700" y="1671638"/>
            <a:ext cx="3429000" cy="3429000"/>
          </a:xfrm>
          <a:prstGeom prst="ellipse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4" name="Shape 2"/>
          <p:cNvSpPr/>
          <p:nvPr/>
        </p:nvSpPr>
        <p:spPr>
          <a:xfrm>
            <a:off x="-548640" y="2151698"/>
            <a:ext cx="2468880" cy="2468880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5" name="Text 3"/>
          <p:cNvSpPr/>
          <p:nvPr/>
        </p:nvSpPr>
        <p:spPr>
          <a:xfrm>
            <a:off x="2057400" y="1465898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ส่วนที่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57400" y="187737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Shortest Path &amp; MST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057400" y="2563178"/>
            <a:ext cx="4114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เส้นทางสั้นที่สุดและต้นไม้แผ่ทั่วน้อยสุด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57400" y="304323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sz="975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Dijkstra's Algorithm</a:t>
            </a:r>
            <a:endParaRPr lang="en-US" sz="975" dirty="0"/>
          </a:p>
          <a:p>
            <a:pPr>
              <a:lnSpc>
                <a:spcPts val="1800"/>
              </a:lnSpc>
            </a:pPr>
            <a:r>
              <a:rPr lang="en-US" sz="975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Prim's Algorithm</a:t>
            </a:r>
            <a:endParaRPr lang="en-US" sz="975" dirty="0"/>
          </a:p>
          <a:p>
            <a:pPr>
              <a:lnSpc>
                <a:spcPts val="1800"/>
              </a:lnSpc>
            </a:pPr>
            <a:r>
              <a:rPr lang="en-US" sz="975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Kruskal's Algorithm</a:t>
            </a:r>
            <a:endParaRPr lang="en-US" sz="9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75">
                <a:solidFill>
                  <a:srgbClr val="90E0E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43388"/>
            <a:ext cx="6858000" cy="257175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Text 1"/>
          <p:cNvSpPr/>
          <p:nvPr/>
        </p:nvSpPr>
        <p:spPr>
          <a:xfrm>
            <a:off x="274320" y="4263962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— Graph Algorithms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11480" y="84867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Minimum Spanning Tree (MST)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11480" y="1225868"/>
            <a:ext cx="54864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ต้นไม้แผ่ทั่วน้อยสุด — เชื่อมต่อทุกจุดยอดด้วยน้ำหนักรวมน้อยที่สุด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2900" y="1671638"/>
            <a:ext cx="1988820" cy="10972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 sz="1350"/>
          </a:p>
        </p:txBody>
      </p:sp>
      <p:sp>
        <p:nvSpPr>
          <p:cNvPr id="7" name="Shape 5"/>
          <p:cNvSpPr/>
          <p:nvPr/>
        </p:nvSpPr>
        <p:spPr>
          <a:xfrm>
            <a:off x="342900" y="1671638"/>
            <a:ext cx="1988820" cy="411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8" name="Text 6"/>
          <p:cNvSpPr/>
          <p:nvPr/>
        </p:nvSpPr>
        <p:spPr>
          <a:xfrm>
            <a:off x="480060" y="1808798"/>
            <a:ext cx="1714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เชื่อมต่อทุกจุดยอด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0060" y="2117408"/>
            <a:ext cx="17145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ทุกจุดยอดต้องเข้าถึงได้จากทุกจุดอื่น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468880" y="1671638"/>
            <a:ext cx="1988820" cy="10972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 sz="1350"/>
          </a:p>
        </p:txBody>
      </p:sp>
      <p:sp>
        <p:nvSpPr>
          <p:cNvPr id="11" name="Shape 9"/>
          <p:cNvSpPr/>
          <p:nvPr/>
        </p:nvSpPr>
        <p:spPr>
          <a:xfrm>
            <a:off x="2468880" y="1671638"/>
            <a:ext cx="1988820" cy="411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12" name="Text 10"/>
          <p:cNvSpPr/>
          <p:nvPr/>
        </p:nvSpPr>
        <p:spPr>
          <a:xfrm>
            <a:off x="2606040" y="1808798"/>
            <a:ext cx="1714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เส้นเชื่อม = V - 1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06040" y="2117408"/>
            <a:ext cx="17145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จำนวนเส้นเชื่อมน้อยกว่าจำนวนจุดยอด 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594860" y="1671638"/>
            <a:ext cx="1988820" cy="10972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 sz="1350"/>
          </a:p>
        </p:txBody>
      </p:sp>
      <p:sp>
        <p:nvSpPr>
          <p:cNvPr id="15" name="Shape 13"/>
          <p:cNvSpPr/>
          <p:nvPr/>
        </p:nvSpPr>
        <p:spPr>
          <a:xfrm>
            <a:off x="4594860" y="1671638"/>
            <a:ext cx="1988820" cy="411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16" name="Text 14"/>
          <p:cNvSpPr/>
          <p:nvPr/>
        </p:nvSpPr>
        <p:spPr>
          <a:xfrm>
            <a:off x="4732020" y="1808798"/>
            <a:ext cx="1714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ผลรวมน้ำหนักน้อยสุด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32020" y="2117408"/>
            <a:ext cx="17145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Spanning Tree อื่นที่น้ำหนักรวมน้อยกว่า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11480" y="2974658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การประยุกต์ใช้งานจริง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" y="3317558"/>
            <a:ext cx="137160" cy="1371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20" name="Text 18"/>
          <p:cNvSpPr/>
          <p:nvPr/>
        </p:nvSpPr>
        <p:spPr>
          <a:xfrm>
            <a:off x="720090" y="3283268"/>
            <a:ext cx="1371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วางสายเคเบิล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2125980" y="3283268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เชื่อมเมืองด้วยต้นทุนต่ำสุด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80060" y="3591878"/>
            <a:ext cx="137160" cy="1371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23" name="Text 21"/>
          <p:cNvSpPr/>
          <p:nvPr/>
        </p:nvSpPr>
        <p:spPr>
          <a:xfrm>
            <a:off x="720090" y="3557588"/>
            <a:ext cx="1371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เครือข่ายคอมพิวเตอร์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2125980" y="3557588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ออกแบบเครือข่ายเชื่อมต่อ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80060" y="3866198"/>
            <a:ext cx="137160" cy="1371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26" name="Text 24"/>
          <p:cNvSpPr/>
          <p:nvPr/>
        </p:nvSpPr>
        <p:spPr>
          <a:xfrm>
            <a:off x="720090" y="3831908"/>
            <a:ext cx="1371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วางท่อน้ำ/ไฟฟ้า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2125980" y="3831908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เชื่อมทุกจุดด้วยค่าใช้จ่ายต่ำสุด</a:t>
            </a:r>
            <a:endParaRPr lang="en-US" sz="7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75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64F6124-DBD8-C7C1-1003-B458E4F58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180" y="2864930"/>
            <a:ext cx="3021085" cy="185761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DF8031-87FD-D2E3-3277-8A498E793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436B39-2A16-74C5-380E-856E921C3CDD}"/>
              </a:ext>
            </a:extLst>
          </p:cNvPr>
          <p:cNvSpPr/>
          <p:nvPr/>
        </p:nvSpPr>
        <p:spPr>
          <a:xfrm>
            <a:off x="0" y="4243388"/>
            <a:ext cx="6858000" cy="257175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A0EA43-6E29-E5F7-C6E0-35BE44DF8C35}"/>
              </a:ext>
            </a:extLst>
          </p:cNvPr>
          <p:cNvSpPr/>
          <p:nvPr/>
        </p:nvSpPr>
        <p:spPr>
          <a:xfrm>
            <a:off x="411480" y="84867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Minimum Spanning Tree (MST)</a:t>
            </a:r>
            <a:endParaRPr lang="en-US" sz="1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A7F180-9BE7-6371-90BD-422E116E15C5}"/>
              </a:ext>
            </a:extLst>
          </p:cNvPr>
          <p:cNvSpPr/>
          <p:nvPr/>
        </p:nvSpPr>
        <p:spPr>
          <a:xfrm>
            <a:off x="411480" y="1225868"/>
            <a:ext cx="54864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ต้นไม้แผ่ทั่วน้อยสุด — เชื่อมต่อทุกจุดยอดด้วยน้ำหนักรวมน้อยที่สุด</a:t>
            </a:r>
            <a:endParaRPr lang="en-US" sz="900" dirty="0"/>
          </a:p>
        </p:txBody>
      </p:sp>
      <p:sp>
        <p:nvSpPr>
          <p:cNvPr id="28" name="Slide Number Placeholder 0">
            <a:extLst>
              <a:ext uri="{FF2B5EF4-FFF2-40B4-BE49-F238E27FC236}">
                <a16:creationId xmlns:a16="http://schemas.microsoft.com/office/drawing/2014/main" id="{109FEADF-B789-C360-1BF7-A43CFED9914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75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1BB9AB9-BBFC-30C8-26D5-2A9CDD288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938" y="818039"/>
            <a:ext cx="4310062" cy="347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919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6858000" cy="411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Text 1"/>
          <p:cNvSpPr/>
          <p:nvPr/>
        </p:nvSpPr>
        <p:spPr>
          <a:xfrm>
            <a:off x="411480" y="84867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Prim's Algorithm ⭐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1225868"/>
            <a:ext cx="54864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ขยายต้นไม้ออกไปทีละเส้น — เลือกเส้นเชื่อมที่น้ำหนักน้อยสุดเสมอ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671638"/>
            <a:ext cx="3154680" cy="1783080"/>
          </a:xfrm>
          <a:prstGeom prst="roundRect">
            <a:avLst>
              <a:gd name="adj" fmla="val 3846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6" name="Text 4"/>
          <p:cNvSpPr/>
          <p:nvPr/>
        </p:nvSpPr>
        <p:spPr>
          <a:xfrm>
            <a:off x="411480" y="1740218"/>
            <a:ext cx="27432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ขั้นตอน (Algorithm)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0060" y="208311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54380" y="2083118"/>
            <a:ext cx="25374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เลือกจุดยอดเริ่มต้น ใส่ลง MST set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80060" y="239172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754380" y="2391728"/>
            <a:ext cx="25374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 edge น้ำหนักน้อยสุดที่เชื่อม MST กับนอก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80060" y="270033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754380" y="2700338"/>
            <a:ext cx="25374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edge + จุดยอดใหม่เข้า MST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80060" y="300894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754380" y="3008948"/>
            <a:ext cx="25374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ทำซ้ำจนครบ V-1 เส้นเชื่อม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3634740" y="1671638"/>
            <a:ext cx="2948940" cy="2263140"/>
          </a:xfrm>
          <a:prstGeom prst="roundRect">
            <a:avLst>
              <a:gd name="adj" fmla="val 303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16" name="Text 14"/>
          <p:cNvSpPr/>
          <p:nvPr/>
        </p:nvSpPr>
        <p:spPr>
          <a:xfrm>
            <a:off x="3771900" y="1740218"/>
            <a:ext cx="2606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 การทำงาน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71900" y="2014538"/>
            <a:ext cx="2606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ขั้น 1: เพิ่ม A → เลือก A-C(2) ✅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ขั้น 2: เพิ่ม C → เลือก C-B(1) ✅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ขั้น 3: เพิ่ม B → เลือก B-D(5) ✅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ขั้น 4: เพิ่ม D → เลือก D-E(2) ✅</a:t>
            </a:r>
            <a:endParaRPr lang="en-US" sz="750" dirty="0"/>
          </a:p>
          <a:p>
            <a:pPr>
              <a:lnSpc>
                <a:spcPts val="1200"/>
              </a:lnSpc>
            </a:pP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MST: A-C(2), C-B(1), B-D(5), D-E(2)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น้ำหนักรวม = 10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3626168"/>
            <a:ext cx="3154680" cy="377190"/>
          </a:xfrm>
          <a:prstGeom prst="roundRect">
            <a:avLst>
              <a:gd name="adj" fmla="val 10909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19" name="Text 17"/>
          <p:cNvSpPr/>
          <p:nvPr/>
        </p:nvSpPr>
        <p:spPr>
          <a:xfrm>
            <a:off x="411480" y="3626168"/>
            <a:ext cx="28803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Time: O((V+E) log V)</a:t>
            </a:r>
            <a:r>
              <a:rPr lang="en-US" sz="825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Space: O(V)</a:t>
            </a:r>
            <a:endParaRPr lang="en-US" sz="82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75">
                <a:solidFill>
                  <a:srgbClr val="90E0E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43388"/>
            <a:ext cx="6858000" cy="257175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Text 1"/>
          <p:cNvSpPr/>
          <p:nvPr/>
        </p:nvSpPr>
        <p:spPr>
          <a:xfrm>
            <a:off x="274320" y="4263962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— Graph Algorithms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11480" y="84867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Kruskal's Algorithm (เสริม)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11480" y="1225868"/>
            <a:ext cx="54864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อีกวิธีหา MST — เรียงเส้นเชื่อมตามน้ำหนัก แล้วเลือกทีละเส้นถ้าไม่เกิด Cycle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671638"/>
            <a:ext cx="1028700" cy="8915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 sz="1350"/>
          </a:p>
        </p:txBody>
      </p:sp>
      <p:sp>
        <p:nvSpPr>
          <p:cNvPr id="7" name="Text 5"/>
          <p:cNvSpPr/>
          <p:nvPr/>
        </p:nvSpPr>
        <p:spPr>
          <a:xfrm>
            <a:off x="480060" y="170592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0060" y="1980248"/>
            <a:ext cx="8915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เรียง Edge</a:t>
            </a:r>
            <a:endParaRPr lang="en-US" sz="750" dirty="0"/>
          </a:p>
          <a:p>
            <a:pPr algn="ctr"/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ตามน้ำหนัก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453896" y="2117408"/>
            <a:ext cx="17830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  <p:txBody>
          <a:bodyPr/>
          <a:lstStyle/>
          <a:p>
            <a:endParaRPr lang="th-TH" sz="1350"/>
          </a:p>
        </p:txBody>
      </p:sp>
      <p:sp>
        <p:nvSpPr>
          <p:cNvPr id="10" name="Shape 8"/>
          <p:cNvSpPr/>
          <p:nvPr/>
        </p:nvSpPr>
        <p:spPr>
          <a:xfrm>
            <a:off x="1645920" y="1671638"/>
            <a:ext cx="1028700" cy="8915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 sz="1350"/>
          </a:p>
        </p:txBody>
      </p:sp>
      <p:sp>
        <p:nvSpPr>
          <p:cNvPr id="11" name="Text 9"/>
          <p:cNvSpPr/>
          <p:nvPr/>
        </p:nvSpPr>
        <p:spPr>
          <a:xfrm>
            <a:off x="1714500" y="170592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14500" y="1980248"/>
            <a:ext cx="8915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 Edge</a:t>
            </a:r>
            <a:endParaRPr lang="en-US" sz="750" dirty="0"/>
          </a:p>
          <a:p>
            <a:pPr algn="ctr"/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ตัวแรก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688336" y="2117408"/>
            <a:ext cx="17830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  <p:txBody>
          <a:bodyPr/>
          <a:lstStyle/>
          <a:p>
            <a:endParaRPr lang="th-TH" sz="1350"/>
          </a:p>
        </p:txBody>
      </p:sp>
      <p:sp>
        <p:nvSpPr>
          <p:cNvPr id="14" name="Shape 12"/>
          <p:cNvSpPr/>
          <p:nvPr/>
        </p:nvSpPr>
        <p:spPr>
          <a:xfrm>
            <a:off x="2880360" y="1671638"/>
            <a:ext cx="1028700" cy="8915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 sz="1350"/>
          </a:p>
        </p:txBody>
      </p:sp>
      <p:sp>
        <p:nvSpPr>
          <p:cNvPr id="15" name="Text 13"/>
          <p:cNvSpPr/>
          <p:nvPr/>
        </p:nvSpPr>
        <p:spPr>
          <a:xfrm>
            <a:off x="2948940" y="170592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48940" y="1980248"/>
            <a:ext cx="8915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 Cycle</a:t>
            </a:r>
            <a:endParaRPr lang="en-US" sz="750" dirty="0"/>
          </a:p>
          <a:p>
            <a:pPr algn="ctr"/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(Union-Find)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922776" y="2117408"/>
            <a:ext cx="17830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  <p:txBody>
          <a:bodyPr/>
          <a:lstStyle/>
          <a:p>
            <a:endParaRPr lang="th-TH" sz="1350"/>
          </a:p>
        </p:txBody>
      </p:sp>
      <p:sp>
        <p:nvSpPr>
          <p:cNvPr id="18" name="Shape 16"/>
          <p:cNvSpPr/>
          <p:nvPr/>
        </p:nvSpPr>
        <p:spPr>
          <a:xfrm>
            <a:off x="4114800" y="1671638"/>
            <a:ext cx="1028700" cy="8915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 sz="1350"/>
          </a:p>
        </p:txBody>
      </p:sp>
      <p:sp>
        <p:nvSpPr>
          <p:cNvPr id="19" name="Text 17"/>
          <p:cNvSpPr/>
          <p:nvPr/>
        </p:nvSpPr>
        <p:spPr>
          <a:xfrm>
            <a:off x="4183380" y="170592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83380" y="1980248"/>
            <a:ext cx="8915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Cycle?</a:t>
            </a:r>
            <a:endParaRPr lang="en-US" sz="750" dirty="0"/>
          </a:p>
          <a:p>
            <a:pPr algn="ctr"/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เพิ่มใน MST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157216" y="2117408"/>
            <a:ext cx="17830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  <p:txBody>
          <a:bodyPr/>
          <a:lstStyle/>
          <a:p>
            <a:endParaRPr lang="th-TH" sz="1350"/>
          </a:p>
        </p:txBody>
      </p:sp>
      <p:sp>
        <p:nvSpPr>
          <p:cNvPr id="22" name="Shape 20"/>
          <p:cNvSpPr/>
          <p:nvPr/>
        </p:nvSpPr>
        <p:spPr>
          <a:xfrm>
            <a:off x="5349240" y="1671638"/>
            <a:ext cx="1028700" cy="8915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 sz="1350"/>
          </a:p>
        </p:txBody>
      </p:sp>
      <p:sp>
        <p:nvSpPr>
          <p:cNvPr id="23" name="Text 21"/>
          <p:cNvSpPr/>
          <p:nvPr/>
        </p:nvSpPr>
        <p:spPr>
          <a:xfrm>
            <a:off x="5417820" y="170592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17820" y="1980248"/>
            <a:ext cx="8915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ทำซ้ำจนครบ</a:t>
            </a:r>
            <a:endParaRPr lang="en-US" sz="750" dirty="0"/>
          </a:p>
          <a:p>
            <a:pPr algn="ctr"/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V-1 เส้น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42900" y="2768918"/>
            <a:ext cx="2948940" cy="123444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h-TH" sz="1350"/>
          </a:p>
        </p:txBody>
      </p:sp>
      <p:sp>
        <p:nvSpPr>
          <p:cNvPr id="26" name="Text 24"/>
          <p:cNvSpPr/>
          <p:nvPr/>
        </p:nvSpPr>
        <p:spPr>
          <a:xfrm>
            <a:off x="480060" y="2837498"/>
            <a:ext cx="2606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Union-Find (Disjoint Set)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80060" y="311181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00"/>
              </a:lnSpc>
            </a:pPr>
            <a:r>
              <a:rPr lang="en-US" sz="750" b="1" dirty="0">
                <a:solidFill>
                  <a:srgbClr val="0F3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find(x)</a:t>
            </a: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หา root ของกลุ่ม + Path Compression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b="1" dirty="0">
                <a:solidFill>
                  <a:srgbClr val="0F3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union(x,y)</a:t>
            </a: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รวมกลุ่ม + Union by Rank</a:t>
            </a:r>
            <a:endParaRPr lang="en-US" sz="750" dirty="0"/>
          </a:p>
          <a:p>
            <a:pPr>
              <a:lnSpc>
                <a:spcPts val="1200"/>
              </a:lnSpc>
            </a:pP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 find(u) == find(v) → อยู่กลุ่มเดียวกัน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edge จะเกิดวงจร → ข้าม!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566160" y="2768918"/>
            <a:ext cx="2948940" cy="123444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29" name="Text 27"/>
          <p:cNvSpPr/>
          <p:nvPr/>
        </p:nvSpPr>
        <p:spPr>
          <a:xfrm>
            <a:off x="3703320" y="2837498"/>
            <a:ext cx="2606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 การทำงาน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03320" y="3077528"/>
            <a:ext cx="26060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50"/>
              </a:lnSpc>
            </a:pPr>
            <a:r>
              <a:rPr lang="en-US" sz="675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เรียง: B-C(1), A-C(2), D-E(2),</a:t>
            </a:r>
            <a:endParaRPr lang="en-US" sz="675" dirty="0"/>
          </a:p>
          <a:p>
            <a:pPr>
              <a:lnSpc>
                <a:spcPts val="1050"/>
              </a:lnSpc>
            </a:pPr>
            <a:r>
              <a:rPr lang="en-US" sz="675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A-B(4), B-D(5), C-D(8), C-E(10)</a:t>
            </a:r>
            <a:endParaRPr lang="en-US" sz="675" dirty="0"/>
          </a:p>
          <a:p>
            <a:pPr>
              <a:lnSpc>
                <a:spcPts val="1050"/>
              </a:lnSpc>
            </a:pPr>
            <a:endParaRPr lang="en-US" sz="675" dirty="0"/>
          </a:p>
          <a:p>
            <a:pPr>
              <a:lnSpc>
                <a:spcPts val="1050"/>
              </a:lnSpc>
            </a:pPr>
            <a:r>
              <a:rPr lang="en-US" sz="675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เลือก B-C(1) ✅  A-C(2) ✅  D-E(2) ✅</a:t>
            </a:r>
            <a:endParaRPr lang="en-US" sz="675" dirty="0"/>
          </a:p>
          <a:p>
            <a:pPr>
              <a:lnSpc>
                <a:spcPts val="1050"/>
              </a:lnSpc>
            </a:pPr>
            <a:r>
              <a:rPr lang="en-US" sz="675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เลือก A-B(4) ❌(cycle!)  B-D(5) ✅</a:t>
            </a:r>
            <a:endParaRPr lang="en-US" sz="675" dirty="0"/>
          </a:p>
          <a:p>
            <a:pPr>
              <a:lnSpc>
                <a:spcPts val="1050"/>
              </a:lnSpc>
            </a:pPr>
            <a:endParaRPr lang="en-US" sz="675" dirty="0"/>
          </a:p>
          <a:p>
            <a:pPr>
              <a:lnSpc>
                <a:spcPts val="1050"/>
              </a:lnSpc>
            </a:pPr>
            <a:r>
              <a:rPr lang="en-US" sz="675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MST รวม = 1+2+2+5 = 10</a:t>
            </a:r>
            <a:endParaRPr lang="en-US" sz="675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75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6858000" cy="411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Text 1"/>
          <p:cNvSpPr/>
          <p:nvPr/>
        </p:nvSpPr>
        <p:spPr>
          <a:xfrm>
            <a:off x="411480" y="848678"/>
            <a:ext cx="54864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Dijkstra's Algorithm ⭐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1260158"/>
            <a:ext cx="54864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หาเส้นทางสั้นที่สุดจากจุดเริ่มต้นเดียว (Single Source Shortest Path)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671638"/>
            <a:ext cx="3154680" cy="2263140"/>
          </a:xfrm>
          <a:prstGeom prst="roundRect">
            <a:avLst>
              <a:gd name="adj" fmla="val 303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6" name="Text 4"/>
          <p:cNvSpPr/>
          <p:nvPr/>
        </p:nvSpPr>
        <p:spPr>
          <a:xfrm>
            <a:off x="411480" y="1740218"/>
            <a:ext cx="27432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ขั้นตอน (Algorithm)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0060" y="208311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54380" y="2083118"/>
            <a:ext cx="25374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 dist[เริ่ม]=0, จุดอื่น=∞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80060" y="242601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754380" y="2426018"/>
            <a:ext cx="25374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ใส่จุดเริ่มต้นลง Priority Queue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80060" y="276891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754380" y="2768918"/>
            <a:ext cx="25374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ดึงจุดที่ dist น้อยสุดออกจาก PQ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80060" y="311181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754380" y="3111818"/>
            <a:ext cx="25374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สำรวจเพื่อนบ้าน: Relaxation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80060" y="3454718"/>
            <a:ext cx="205740" cy="2057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754380" y="3454718"/>
            <a:ext cx="25374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ทำซ้ำจน PQ ว่าง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3634740" y="1671638"/>
            <a:ext cx="2948940" cy="960120"/>
          </a:xfrm>
          <a:prstGeom prst="roundRect">
            <a:avLst>
              <a:gd name="adj" fmla="val 7143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18" name="Text 16"/>
          <p:cNvSpPr/>
          <p:nvPr/>
        </p:nvSpPr>
        <p:spPr>
          <a:xfrm>
            <a:off x="3771900" y="1740218"/>
            <a:ext cx="2606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หลักการสำคัญ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71900" y="1980248"/>
            <a:ext cx="2606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ใช้หลัก Greedy — เลือกจุดที่ dist น้อยสุด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ใช้ได้เฉพาะ น้ำหนักไม่เป็นลบ เท่านั้น!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ใช้ Priority Queue (Min-Heap)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34740" y="2768918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21" name="Text 19"/>
          <p:cNvSpPr/>
          <p:nvPr/>
        </p:nvSpPr>
        <p:spPr>
          <a:xfrm>
            <a:off x="3634740" y="276891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750" dirty="0"/>
          </a:p>
          <a:p>
            <a:pPr algn="ctr"/>
            <a:r>
              <a:rPr lang="en-US" sz="11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O((V+E)logV)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143500" y="2768918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23" name="Text 21"/>
          <p:cNvSpPr/>
          <p:nvPr/>
        </p:nvSpPr>
        <p:spPr>
          <a:xfrm>
            <a:off x="5143500" y="276891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</a:t>
            </a:r>
            <a:endParaRPr lang="en-US" sz="750" dirty="0"/>
          </a:p>
          <a:p>
            <a:pPr algn="ctr"/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34740" y="3454718"/>
            <a:ext cx="2948940" cy="51435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25" name="Text 23"/>
          <p:cNvSpPr/>
          <p:nvPr/>
        </p:nvSpPr>
        <p:spPr>
          <a:xfrm>
            <a:off x="3771900" y="3489008"/>
            <a:ext cx="260604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Relaxation:</a:t>
            </a:r>
            <a:endParaRPr lang="en-US" sz="750" dirty="0"/>
          </a:p>
          <a:p>
            <a:r>
              <a:rPr lang="en-US" sz="825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dist[u] + w(u,v) &lt; dist[v]</a:t>
            </a:r>
            <a:endParaRPr lang="en-US" sz="750" dirty="0"/>
          </a:p>
          <a:p>
            <a:r>
              <a:rPr lang="en-US" sz="675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อัปเดต dist[v] และใส่ลง PQ</a:t>
            </a:r>
            <a:endParaRPr lang="en-US" sz="7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75">
                <a:solidFill>
                  <a:srgbClr val="90E0E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7DF827-54A1-F1CC-C3BF-3E060A0D1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AFE3FF-D1B2-E887-7725-121C8790D86F}"/>
              </a:ext>
            </a:extLst>
          </p:cNvPr>
          <p:cNvSpPr/>
          <p:nvPr/>
        </p:nvSpPr>
        <p:spPr>
          <a:xfrm>
            <a:off x="0" y="642938"/>
            <a:ext cx="6858000" cy="411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A61E995-8EA4-9AE0-69EF-D99FD0D52AE6}"/>
              </a:ext>
            </a:extLst>
          </p:cNvPr>
          <p:cNvSpPr/>
          <p:nvPr/>
        </p:nvSpPr>
        <p:spPr>
          <a:xfrm>
            <a:off x="411480" y="848678"/>
            <a:ext cx="54864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Dijkstra's Algorithm ⭐</a:t>
            </a:r>
            <a:endParaRPr lang="en-US" sz="2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2ED2829-23BB-F408-7B50-AF30204BADCD}"/>
              </a:ext>
            </a:extLst>
          </p:cNvPr>
          <p:cNvSpPr/>
          <p:nvPr/>
        </p:nvSpPr>
        <p:spPr>
          <a:xfrm>
            <a:off x="411480" y="1260158"/>
            <a:ext cx="54864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หาเส้นทางสั้นที่สุดจากจุดเริ่มต้นเดียว (Single Source Shortest Path)</a:t>
            </a:r>
            <a:endParaRPr lang="en-US" sz="900" dirty="0"/>
          </a:p>
        </p:txBody>
      </p:sp>
      <p:sp>
        <p:nvSpPr>
          <p:cNvPr id="26" name="Slide Number Placeholder 0">
            <a:extLst>
              <a:ext uri="{FF2B5EF4-FFF2-40B4-BE49-F238E27FC236}">
                <a16:creationId xmlns:a16="http://schemas.microsoft.com/office/drawing/2014/main" id="{8835DB77-1A74-69D7-DDA1-F274F6209D1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75">
                <a:solidFill>
                  <a:srgbClr val="90E0E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  <p:pic>
        <p:nvPicPr>
          <p:cNvPr id="27" name="Picture 26" descr="Difference Between Prim's and Dijkstra's Algorithms | Baeldung on Computer  Science">
            <a:extLst>
              <a:ext uri="{FF2B5EF4-FFF2-40B4-BE49-F238E27FC236}">
                <a16:creationId xmlns:a16="http://schemas.microsoft.com/office/drawing/2014/main" id="{7F33433A-5D8F-B728-BAC0-08E04F59C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987" y="1705928"/>
            <a:ext cx="3893344" cy="292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526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43388"/>
            <a:ext cx="6858000" cy="257175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Text 1"/>
          <p:cNvSpPr/>
          <p:nvPr/>
        </p:nvSpPr>
        <p:spPr>
          <a:xfrm>
            <a:off x="274320" y="4263962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— Graph Algorithms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11480" y="780098"/>
            <a:ext cx="54864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Dijkstra Trace — การทำงานทีละขั้น</a:t>
            </a:r>
            <a:endParaRPr lang="en-US" sz="16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5740" y="1157288"/>
          <a:ext cx="6446520" cy="168021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3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Step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เลือก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อัปเดต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dist (A,B,C,D,E)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เริ่ม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(0, ∞, ∞, ∞, ∞)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(0)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B=4, C=2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(0, 4, 2, ∞, ∞)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 (2)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B=3✨ D=10 E=12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(0, 3, 2, 10, 12)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 (3)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D=8✨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(0, 3, 2, 8, 12)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 (8)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E=10✨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(0, 3, 2, 8, 10)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 (10)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ไม่มี → จบ!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(0, 3, 2, 8, 10)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2974658"/>
            <a:ext cx="6309360" cy="1165860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h-TH" sz="1350"/>
          </a:p>
        </p:txBody>
      </p:sp>
      <p:sp>
        <p:nvSpPr>
          <p:cNvPr id="7" name="Text 4"/>
          <p:cNvSpPr/>
          <p:nvPr/>
        </p:nvSpPr>
        <p:spPr>
          <a:xfrm>
            <a:off x="411480" y="3043238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ผลลัพธ์ ระยะทางสั้นสุดจาก 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3317558"/>
            <a:ext cx="6035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→ B: ระยะทาง = 3   เส้นทาง: A → C → B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→ C: ระยะทาง = 2   เส้นทาง: A → C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→ D: ระยะทาง = 8   เส้นทาง: A → C → B → D</a:t>
            </a:r>
            <a:endParaRPr lang="en-US" sz="750" dirty="0"/>
          </a:p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→ E: ระยะทาง = 10  เส้นทาง: A → C → B → D → 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75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43388"/>
            <a:ext cx="6858000" cy="257175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Text 1"/>
          <p:cNvSpPr/>
          <p:nvPr/>
        </p:nvSpPr>
        <p:spPr>
          <a:xfrm>
            <a:off x="274320" y="4263962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— Graph Algorithms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11480" y="84867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เปรียบเทียบ Dijkstra vs Prim</a:t>
            </a:r>
            <a:endParaRPr lang="en-US" sz="1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" y="1328738"/>
          <a:ext cx="6172200" cy="2276856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คุณสมบัติ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Dijkstra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Prim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วัตถุประสงค์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Path จากจุดเดียว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Spanning Tree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ผลลัพธ์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ระยะทางสั้นสุดไปทุกจุด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ต้นไม้น้ำหนักรวมน้อยสุด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ประเภทกราฟ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Directed / Undirected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Undirected เท่านั้น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น้ำหนักลบ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ใช้ไม่ได้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ใช้ได้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หลักการ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(เลือก dist น้อยสุด)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(เลือก edge น้อยสุด)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โครงสร้าง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Queue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Queue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Time Complexity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O((V+E) log V)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O((V+E) log V)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42900" y="3523298"/>
            <a:ext cx="6172200" cy="445770"/>
          </a:xfrm>
          <a:prstGeom prst="roundRect">
            <a:avLst>
              <a:gd name="adj" fmla="val 12308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h-TH" sz="1350"/>
          </a:p>
        </p:txBody>
      </p:sp>
      <p:sp>
        <p:nvSpPr>
          <p:cNvPr id="7" name="Text 4"/>
          <p:cNvSpPr/>
          <p:nvPr/>
        </p:nvSpPr>
        <p:spPr>
          <a:xfrm>
            <a:off x="548640" y="3578162"/>
            <a:ext cx="5829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สังเกต: </a:t>
            </a: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ทั้งคู่ใช้ Priority Queue + Greedy แต่ Dijkstra เลือกจุดที่ ระยะทางจากต้นทาง น้อยสุด  |  Prim เลือก edge ที่น้ำหนักน้อยสุด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75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43388"/>
            <a:ext cx="6858000" cy="257175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Text 1"/>
          <p:cNvSpPr/>
          <p:nvPr/>
        </p:nvSpPr>
        <p:spPr>
          <a:xfrm>
            <a:off x="274320" y="4263962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— Graph Algorithms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11480" y="814388"/>
            <a:ext cx="54864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สรุปรวม (Summary)</a:t>
            </a:r>
            <a:endParaRPr lang="en-US" sz="2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5740" y="1260158"/>
          <a:ext cx="6446520" cy="2043684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หัวข้อ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Algorithm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ใช้ทำอะไร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Time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Traversal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BFS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ท่องไปแบบกว้าง, เส้นทางสั้นสุด (unweighted)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O(V + E)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Traversal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DFS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ท่องไปแบบลึก, Cycle, Topological Sort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O(V + E)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Shortest Path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Dijkstra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เส้นทางสั้นสุด (weighted, non-negative)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O((V+E)logV)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MST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Prim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ต้นไม้แผ่ทั่วน้อยสุด (จากจุดเดียว)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O((V+E)logV)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MST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Kruskal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ต้นไม้แผ่ทั่วน้อยสุด (เรียง edge)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O(E log E)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42900" y="3420428"/>
            <a:ext cx="19888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 sz="1350"/>
          </a:p>
        </p:txBody>
      </p:sp>
      <p:sp>
        <p:nvSpPr>
          <p:cNvPr id="7" name="Shape 4"/>
          <p:cNvSpPr/>
          <p:nvPr/>
        </p:nvSpPr>
        <p:spPr>
          <a:xfrm>
            <a:off x="342900" y="3420428"/>
            <a:ext cx="41148" cy="5486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8" name="Text 5"/>
          <p:cNvSpPr/>
          <p:nvPr/>
        </p:nvSpPr>
        <p:spPr>
          <a:xfrm>
            <a:off x="480060" y="3454718"/>
            <a:ext cx="1714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Traversal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80060" y="3660458"/>
            <a:ext cx="1714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(กว้าง) / DFS (ลึก)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468880" y="3420428"/>
            <a:ext cx="19888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 sz="1350"/>
          </a:p>
        </p:txBody>
      </p:sp>
      <p:sp>
        <p:nvSpPr>
          <p:cNvPr id="11" name="Shape 8"/>
          <p:cNvSpPr/>
          <p:nvPr/>
        </p:nvSpPr>
        <p:spPr>
          <a:xfrm>
            <a:off x="2468880" y="3420428"/>
            <a:ext cx="41148" cy="548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12" name="Text 9"/>
          <p:cNvSpPr/>
          <p:nvPr/>
        </p:nvSpPr>
        <p:spPr>
          <a:xfrm>
            <a:off x="2606040" y="3454718"/>
            <a:ext cx="1714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Shortest Path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606040" y="3660458"/>
            <a:ext cx="1714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(non-negative)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594860" y="3420428"/>
            <a:ext cx="19888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 sz="1350"/>
          </a:p>
        </p:txBody>
      </p:sp>
      <p:sp>
        <p:nvSpPr>
          <p:cNvPr id="15" name="Shape 12"/>
          <p:cNvSpPr/>
          <p:nvPr/>
        </p:nvSpPr>
        <p:spPr>
          <a:xfrm>
            <a:off x="4594860" y="3420428"/>
            <a:ext cx="41148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16" name="Text 13"/>
          <p:cNvSpPr/>
          <p:nvPr/>
        </p:nvSpPr>
        <p:spPr>
          <a:xfrm>
            <a:off x="4732020" y="3454718"/>
            <a:ext cx="1714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732020" y="3660458"/>
            <a:ext cx="1714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 / Kruskal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75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6858000" cy="411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3" name="Shape 1"/>
          <p:cNvSpPr/>
          <p:nvPr/>
        </p:nvSpPr>
        <p:spPr>
          <a:xfrm>
            <a:off x="4457700" y="-42863"/>
            <a:ext cx="3429000" cy="3429000"/>
          </a:xfrm>
          <a:prstGeom prst="ellipse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4" name="Shape 2"/>
          <p:cNvSpPr/>
          <p:nvPr/>
        </p:nvSpPr>
        <p:spPr>
          <a:xfrm>
            <a:off x="4937760" y="437198"/>
            <a:ext cx="2468880" cy="2468880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5" name="Text 3"/>
          <p:cNvSpPr/>
          <p:nvPr/>
        </p:nvSpPr>
        <p:spPr>
          <a:xfrm>
            <a:off x="548640" y="1671638"/>
            <a:ext cx="4114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3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คำถาม</a:t>
            </a:r>
            <a:r>
              <a:rPr lang="en-US" sz="3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357438"/>
            <a:ext cx="17145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7" name="Text 5"/>
          <p:cNvSpPr/>
          <p:nvPr/>
        </p:nvSpPr>
        <p:spPr>
          <a:xfrm>
            <a:off x="548640" y="2528888"/>
            <a:ext cx="3771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Algorithms เป็นหัวใจสำคัญของ Data Structures</a:t>
            </a:r>
            <a:endParaRPr lang="en-US" sz="1050" dirty="0"/>
          </a:p>
          <a:p>
            <a:r>
              <a:rPr lang="en-US" sz="9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ทุกอัลกอริทึมมีโค้ด Python พร้อม Trace ละเอียด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3283268"/>
            <a:ext cx="123444" cy="12344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9" name="Text 7"/>
          <p:cNvSpPr/>
          <p:nvPr/>
        </p:nvSpPr>
        <p:spPr>
          <a:xfrm>
            <a:off x="891540" y="3248978"/>
            <a:ext cx="2057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BFS / DFS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3523298"/>
            <a:ext cx="123444" cy="12344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11" name="Text 9"/>
          <p:cNvSpPr/>
          <p:nvPr/>
        </p:nvSpPr>
        <p:spPr>
          <a:xfrm>
            <a:off x="891540" y="3489008"/>
            <a:ext cx="2057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Dijkstra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3763328"/>
            <a:ext cx="123444" cy="12344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13" name="Text 11"/>
          <p:cNvSpPr/>
          <p:nvPr/>
        </p:nvSpPr>
        <p:spPr>
          <a:xfrm>
            <a:off x="891540" y="3729038"/>
            <a:ext cx="2057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4003358"/>
            <a:ext cx="123444" cy="12344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th-TH" sz="1350"/>
          </a:p>
        </p:txBody>
      </p:sp>
      <p:sp>
        <p:nvSpPr>
          <p:cNvPr id="15" name="Text 13"/>
          <p:cNvSpPr/>
          <p:nvPr/>
        </p:nvSpPr>
        <p:spPr>
          <a:xfrm>
            <a:off x="891540" y="3969068"/>
            <a:ext cx="2057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Kruskal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09360" y="4307681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75">
                <a:solidFill>
                  <a:srgbClr val="90E0E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CA11D85-1B37-4927-9893-7A2DCBB62D91}">
  <we:reference id="WA200010606" version="1.0.10036.0" store="en-us" storeType="OMEX"/>
  <we:alternateReferences/>
  <we:properties>
    <we:property name="Office.AutoShowTaskpaneWithDocument" value="true"/>
    <we:property name="conversationId" value="&quot;80acee7b-6ea9-48d2-8a09-7fca7f47e647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เอกสาร" ma:contentTypeID="0x010100EB88C8B34F5D8A4B9EDBB5CF36153E47" ma:contentTypeVersion="3" ma:contentTypeDescription="สร้างเอกสารใหม่" ma:contentTypeScope="" ma:versionID="171391c29afaa16e5d19da03e3f10591">
  <xsd:schema xmlns:xsd="http://www.w3.org/2001/XMLSchema" xmlns:xs="http://www.w3.org/2001/XMLSchema" xmlns:p="http://schemas.microsoft.com/office/2006/metadata/properties" xmlns:ns2="d407c709-9713-4098-9958-167dabfbed9a" targetNamespace="http://schemas.microsoft.com/office/2006/metadata/properties" ma:root="true" ma:fieldsID="b98ffcbdc6bcdec51f194b56cffe28e5" ns2:_="">
    <xsd:import namespace="d407c709-9713-4098-9958-167dabfbed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07c709-9713-4098-9958-167dabfbed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ชนิดเนื้อหา"/>
        <xsd:element ref="dc:title" minOccurs="0" maxOccurs="1" ma:index="4" ma:displayName="ชื่อเรื่อง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E79D06-D91B-4175-887B-9A1C7A13D0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07c709-9713-4098-9958-167dabfbed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28BFE8-69DD-48B1-88A4-87ED7BBAA739}">
  <ds:schemaRefs>
    <ds:schemaRef ds:uri="http://schemas.microsoft.com/office/2006/documentManagement/types"/>
    <ds:schemaRef ds:uri="http://purl.org/dc/terms/"/>
    <ds:schemaRef ds:uri="http://www.w3.org/XML/1998/namespace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d407c709-9713-4098-9958-167dabfbed9a"/>
  </ds:schemaRefs>
</ds:datastoreItem>
</file>

<file path=customXml/itemProps3.xml><?xml version="1.0" encoding="utf-8"?>
<ds:datastoreItem xmlns:ds="http://schemas.openxmlformats.org/officeDocument/2006/customXml" ds:itemID="{0FB09F08-B4A5-445B-AE25-EDDA084215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</TotalTime>
  <Words>2549</Words>
  <Application>Microsoft Office PowerPoint</Application>
  <PresentationFormat>Custom</PresentationFormat>
  <Paragraphs>544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Calibri Light</vt:lpstr>
      <vt:lpstr>Consolas</vt:lpstr>
      <vt:lpstr>Prompt</vt:lpstr>
      <vt:lpstr>Trebuchet MS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Algorithms - Data Structures</dc:title>
  <dc:subject>PptxGenJS Presentation</dc:subject>
  <dc:creator>Data Structures Course</dc:creator>
  <cp:lastModifiedBy>Phisetphong Suthaphan</cp:lastModifiedBy>
  <cp:revision>7</cp:revision>
  <dcterms:created xsi:type="dcterms:W3CDTF">2026-09-30T01:21:00Z</dcterms:created>
  <dcterms:modified xsi:type="dcterms:W3CDTF">2026-09-30T02:13:55Z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0x010100EB88C8B34F5D8A4B9EDBB5CF36153E47</vt:lpwstr>
  </property>
</Properties>
</file>